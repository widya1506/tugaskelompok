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Microsoft Tai Le" panose="020B0502040204020203" pitchFamily="34" charset="0"/>
      <p:regular r:id="rId15"/>
      <p:bold r:id="rId16"/>
    </p:embeddedFont>
    <p:embeddedFont>
      <p:font typeface="Mommi" panose="020B0604020202020204" charset="-34"/>
      <p:regular r:id="rId17"/>
    </p:embeddedFont>
    <p:embeddedFont>
      <p:font typeface="Sensei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20.svg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12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png"/><Relationship Id="rId5" Type="http://schemas.openxmlformats.org/officeDocument/2006/relationships/image" Target="../media/image16.svg"/><Relationship Id="rId10" Type="http://schemas.openxmlformats.org/officeDocument/2006/relationships/image" Target="../media/image23.png"/><Relationship Id="rId4" Type="http://schemas.openxmlformats.org/officeDocument/2006/relationships/image" Target="../media/image15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9.png"/><Relationship Id="rId5" Type="http://schemas.openxmlformats.org/officeDocument/2006/relationships/image" Target="../media/image12.svg"/><Relationship Id="rId10" Type="http://schemas.openxmlformats.org/officeDocument/2006/relationships/image" Target="../media/image28.png"/><Relationship Id="rId4" Type="http://schemas.openxmlformats.org/officeDocument/2006/relationships/image" Target="../media/image11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3.png"/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12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1.svg"/><Relationship Id="rId5" Type="http://schemas.openxmlformats.org/officeDocument/2006/relationships/image" Target="../media/image10.sv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8.png"/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12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1.svg"/><Relationship Id="rId5" Type="http://schemas.openxmlformats.org/officeDocument/2006/relationships/image" Target="../media/image10.svg"/><Relationship Id="rId10" Type="http://schemas.openxmlformats.org/officeDocument/2006/relationships/image" Target="../media/image30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svg"/><Relationship Id="rId7" Type="http://schemas.openxmlformats.org/officeDocument/2006/relationships/image" Target="../media/image4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31.svg"/><Relationship Id="rId5" Type="http://schemas.openxmlformats.org/officeDocument/2006/relationships/image" Target="../media/image10.svg"/><Relationship Id="rId10" Type="http://schemas.openxmlformats.org/officeDocument/2006/relationships/image" Target="../media/image30.png"/><Relationship Id="rId4" Type="http://schemas.openxmlformats.org/officeDocument/2006/relationships/image" Target="../media/image9.png"/><Relationship Id="rId9" Type="http://schemas.openxmlformats.org/officeDocument/2006/relationships/image" Target="../media/image4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46.png"/><Relationship Id="rId5" Type="http://schemas.openxmlformats.org/officeDocument/2006/relationships/image" Target="../media/image12.svg"/><Relationship Id="rId10" Type="http://schemas.openxmlformats.org/officeDocument/2006/relationships/image" Target="../media/image45.png"/><Relationship Id="rId4" Type="http://schemas.openxmlformats.org/officeDocument/2006/relationships/image" Target="../media/image11.png"/><Relationship Id="rId9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1308" y="-121890"/>
            <a:ext cx="18744108" cy="10530781"/>
          </a:xfrm>
          <a:custGeom>
            <a:avLst/>
            <a:gdLst/>
            <a:ahLst/>
            <a:cxnLst/>
            <a:rect l="l" t="t" r="r" b="b"/>
            <a:pathLst>
              <a:path w="18744108" h="10530781">
                <a:moveTo>
                  <a:pt x="0" y="0"/>
                </a:moveTo>
                <a:lnTo>
                  <a:pt x="18744108" y="0"/>
                </a:lnTo>
                <a:lnTo>
                  <a:pt x="18744108" y="10530780"/>
                </a:lnTo>
                <a:lnTo>
                  <a:pt x="0" y="10530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68812" y="1317335"/>
            <a:ext cx="12550376" cy="7940965"/>
          </a:xfrm>
          <a:custGeom>
            <a:avLst/>
            <a:gdLst/>
            <a:ahLst/>
            <a:cxnLst/>
            <a:rect l="l" t="t" r="r" b="b"/>
            <a:pathLst>
              <a:path w="12550376" h="7940965">
                <a:moveTo>
                  <a:pt x="0" y="0"/>
                </a:moveTo>
                <a:lnTo>
                  <a:pt x="12550376" y="0"/>
                </a:lnTo>
                <a:lnTo>
                  <a:pt x="12550376" y="7940965"/>
                </a:lnTo>
                <a:lnTo>
                  <a:pt x="0" y="7940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56856" y="6018253"/>
            <a:ext cx="3169355" cy="3240047"/>
          </a:xfrm>
          <a:custGeom>
            <a:avLst/>
            <a:gdLst/>
            <a:ahLst/>
            <a:cxnLst/>
            <a:rect l="l" t="t" r="r" b="b"/>
            <a:pathLst>
              <a:path w="3169355" h="3240047">
                <a:moveTo>
                  <a:pt x="0" y="0"/>
                </a:moveTo>
                <a:lnTo>
                  <a:pt x="3169355" y="0"/>
                </a:lnTo>
                <a:lnTo>
                  <a:pt x="3169355" y="3240047"/>
                </a:lnTo>
                <a:lnTo>
                  <a:pt x="0" y="32400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888943">
            <a:off x="12760343" y="1082213"/>
            <a:ext cx="2796127" cy="3913154"/>
          </a:xfrm>
          <a:custGeom>
            <a:avLst/>
            <a:gdLst/>
            <a:ahLst/>
            <a:cxnLst/>
            <a:rect l="l" t="t" r="r" b="b"/>
            <a:pathLst>
              <a:path w="2796127" h="3913154">
                <a:moveTo>
                  <a:pt x="0" y="0"/>
                </a:moveTo>
                <a:lnTo>
                  <a:pt x="2796127" y="0"/>
                </a:lnTo>
                <a:lnTo>
                  <a:pt x="2796127" y="3913154"/>
                </a:lnTo>
                <a:lnTo>
                  <a:pt x="0" y="39131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730864" y="3323413"/>
            <a:ext cx="10028813" cy="368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98"/>
              </a:lnSpc>
            </a:pPr>
            <a:r>
              <a:rPr lang="en-US" sz="14058">
                <a:solidFill>
                  <a:srgbClr val="F791AF"/>
                </a:solidFill>
                <a:latin typeface="Sensei"/>
                <a:ea typeface="Sensei"/>
                <a:cs typeface="Sensei"/>
                <a:sym typeface="Sensei"/>
              </a:rPr>
              <a:t>Presentasi </a:t>
            </a:r>
          </a:p>
          <a:p>
            <a:pPr algn="ctr">
              <a:lnSpc>
                <a:spcPts val="14198"/>
              </a:lnSpc>
            </a:pPr>
            <a:r>
              <a:rPr lang="en-US" sz="14058">
                <a:solidFill>
                  <a:srgbClr val="F791AF"/>
                </a:solidFill>
                <a:latin typeface="Sensei"/>
                <a:ea typeface="Sensei"/>
                <a:cs typeface="Sensei"/>
                <a:sym typeface="Sensei"/>
              </a:rPr>
              <a:t>Calculus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70864" y="7269699"/>
            <a:ext cx="6946270" cy="148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6"/>
              </a:lnSpc>
            </a:pPr>
            <a:r>
              <a:rPr lang="en-US" sz="4600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Kelompok 1</a:t>
            </a:r>
          </a:p>
          <a:p>
            <a:pPr algn="ctr">
              <a:lnSpc>
                <a:spcPts val="4646"/>
              </a:lnSpc>
            </a:pPr>
            <a:endParaRPr lang="en-US" sz="4600">
              <a:solidFill>
                <a:srgbClr val="F791AF"/>
              </a:solidFill>
              <a:latin typeface="Mommi"/>
              <a:ea typeface="Mommi"/>
              <a:cs typeface="Mommi"/>
              <a:sym typeface="Momm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6108" y="-121891"/>
            <a:ext cx="18744108" cy="10530781"/>
          </a:xfrm>
          <a:custGeom>
            <a:avLst/>
            <a:gdLst/>
            <a:ahLst/>
            <a:cxnLst/>
            <a:rect l="l" t="t" r="r" b="b"/>
            <a:pathLst>
              <a:path w="18744108" h="10530781">
                <a:moveTo>
                  <a:pt x="0" y="0"/>
                </a:moveTo>
                <a:lnTo>
                  <a:pt x="18744108" y="0"/>
                </a:lnTo>
                <a:lnTo>
                  <a:pt x="18744108" y="10530780"/>
                </a:lnTo>
                <a:lnTo>
                  <a:pt x="0" y="10530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884062" y="3679443"/>
            <a:ext cx="5907262" cy="1997729"/>
          </a:xfrm>
          <a:custGeom>
            <a:avLst/>
            <a:gdLst/>
            <a:ahLst/>
            <a:cxnLst/>
            <a:rect l="l" t="t" r="r" b="b"/>
            <a:pathLst>
              <a:path w="5907262" h="1997729">
                <a:moveTo>
                  <a:pt x="0" y="0"/>
                </a:moveTo>
                <a:lnTo>
                  <a:pt x="5907262" y="0"/>
                </a:lnTo>
                <a:lnTo>
                  <a:pt x="5907262" y="1997728"/>
                </a:lnTo>
                <a:lnTo>
                  <a:pt x="0" y="1997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94474" y="6210300"/>
            <a:ext cx="5907262" cy="1997729"/>
          </a:xfrm>
          <a:custGeom>
            <a:avLst/>
            <a:gdLst/>
            <a:ahLst/>
            <a:cxnLst/>
            <a:rect l="l" t="t" r="r" b="b"/>
            <a:pathLst>
              <a:path w="5907262" h="1997729">
                <a:moveTo>
                  <a:pt x="0" y="0"/>
                </a:moveTo>
                <a:lnTo>
                  <a:pt x="5907262" y="0"/>
                </a:lnTo>
                <a:lnTo>
                  <a:pt x="5907262" y="1997729"/>
                </a:lnTo>
                <a:lnTo>
                  <a:pt x="0" y="19977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97178" y="3771900"/>
            <a:ext cx="5907262" cy="1997729"/>
          </a:xfrm>
          <a:custGeom>
            <a:avLst/>
            <a:gdLst/>
            <a:ahLst/>
            <a:cxnLst/>
            <a:rect l="l" t="t" r="r" b="b"/>
            <a:pathLst>
              <a:path w="5907262" h="1997729">
                <a:moveTo>
                  <a:pt x="0" y="0"/>
                </a:moveTo>
                <a:lnTo>
                  <a:pt x="5907262" y="0"/>
                </a:lnTo>
                <a:lnTo>
                  <a:pt x="5907262" y="1997728"/>
                </a:lnTo>
                <a:lnTo>
                  <a:pt x="0" y="1997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064147" y="6210300"/>
            <a:ext cx="5907262" cy="1997729"/>
          </a:xfrm>
          <a:custGeom>
            <a:avLst/>
            <a:gdLst/>
            <a:ahLst/>
            <a:cxnLst/>
            <a:rect l="l" t="t" r="r" b="b"/>
            <a:pathLst>
              <a:path w="5907262" h="1997729">
                <a:moveTo>
                  <a:pt x="0" y="0"/>
                </a:moveTo>
                <a:lnTo>
                  <a:pt x="5907262" y="0"/>
                </a:lnTo>
                <a:lnTo>
                  <a:pt x="5907262" y="1997729"/>
                </a:lnTo>
                <a:lnTo>
                  <a:pt x="0" y="19977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610396" y="6576072"/>
            <a:ext cx="2802090" cy="3982298"/>
          </a:xfrm>
          <a:custGeom>
            <a:avLst/>
            <a:gdLst/>
            <a:ahLst/>
            <a:cxnLst/>
            <a:rect l="l" t="t" r="r" b="b"/>
            <a:pathLst>
              <a:path w="2802090" h="3982298">
                <a:moveTo>
                  <a:pt x="0" y="0"/>
                </a:moveTo>
                <a:lnTo>
                  <a:pt x="2802089" y="0"/>
                </a:lnTo>
                <a:lnTo>
                  <a:pt x="2802089" y="3982298"/>
                </a:lnTo>
                <a:lnTo>
                  <a:pt x="0" y="39822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697715">
            <a:off x="807175" y="2411034"/>
            <a:ext cx="1500065" cy="4084336"/>
          </a:xfrm>
          <a:custGeom>
            <a:avLst/>
            <a:gdLst/>
            <a:ahLst/>
            <a:cxnLst/>
            <a:rect l="l" t="t" r="r" b="b"/>
            <a:pathLst>
              <a:path w="1500065" h="4084336">
                <a:moveTo>
                  <a:pt x="0" y="0"/>
                </a:moveTo>
                <a:lnTo>
                  <a:pt x="1500065" y="0"/>
                </a:lnTo>
                <a:lnTo>
                  <a:pt x="1500065" y="4084336"/>
                </a:lnTo>
                <a:lnTo>
                  <a:pt x="0" y="40843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468082" y="1489219"/>
            <a:ext cx="10028813" cy="188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98"/>
              </a:lnSpc>
            </a:pPr>
            <a:r>
              <a:rPr lang="en-US" sz="14058">
                <a:solidFill>
                  <a:srgbClr val="F791AF"/>
                </a:solidFill>
                <a:latin typeface="Sensei"/>
                <a:ea typeface="Sensei"/>
                <a:cs typeface="Sensei"/>
                <a:sym typeface="Sensei"/>
              </a:rPr>
              <a:t>Anggota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63206" y="4119188"/>
            <a:ext cx="3671662" cy="1568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7"/>
              </a:lnSpc>
            </a:pPr>
            <a:r>
              <a:rPr lang="en-US" sz="4849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aliyatu Shabrina.Z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85951" y="6550180"/>
            <a:ext cx="3903484" cy="1568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7"/>
              </a:lnSpc>
            </a:pPr>
            <a:r>
              <a:rPr lang="en-US" sz="4849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Widya Pratama.E.P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18293" y="4057375"/>
            <a:ext cx="3323928" cy="1568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7"/>
              </a:lnSpc>
            </a:pPr>
            <a:r>
              <a:rPr lang="en-US" sz="4849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Sarah Nurfira.F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6604" y="6630623"/>
            <a:ext cx="3787307" cy="947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7"/>
              </a:lnSpc>
            </a:pPr>
            <a:r>
              <a:rPr lang="en-US" sz="4849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Tria Agustin</a:t>
            </a:r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078F3236-7D5E-4802-1FA3-4536DCBF15B3}"/>
              </a:ext>
            </a:extLst>
          </p:cNvPr>
          <p:cNvSpPr/>
          <p:nvPr/>
        </p:nvSpPr>
        <p:spPr>
          <a:xfrm>
            <a:off x="5528857" y="8191500"/>
            <a:ext cx="5907262" cy="1997729"/>
          </a:xfrm>
          <a:custGeom>
            <a:avLst/>
            <a:gdLst/>
            <a:ahLst/>
            <a:cxnLst/>
            <a:rect l="l" t="t" r="r" b="b"/>
            <a:pathLst>
              <a:path w="5907262" h="1997729">
                <a:moveTo>
                  <a:pt x="0" y="0"/>
                </a:moveTo>
                <a:lnTo>
                  <a:pt x="5907262" y="0"/>
                </a:lnTo>
                <a:lnTo>
                  <a:pt x="5907262" y="1997728"/>
                </a:lnTo>
                <a:lnTo>
                  <a:pt x="0" y="1997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A0263F02-BC0E-191A-CDF8-0B6E306B9617}"/>
              </a:ext>
            </a:extLst>
          </p:cNvPr>
          <p:cNvSpPr txBox="1"/>
          <p:nvPr/>
        </p:nvSpPr>
        <p:spPr>
          <a:xfrm>
            <a:off x="6499297" y="8611823"/>
            <a:ext cx="3787307" cy="652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7"/>
              </a:lnSpc>
            </a:pPr>
            <a:r>
              <a:rPr lang="en-US" sz="4849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Lulu 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054" y="-121890"/>
            <a:ext cx="18744108" cy="10530781"/>
          </a:xfrm>
          <a:custGeom>
            <a:avLst/>
            <a:gdLst/>
            <a:ahLst/>
            <a:cxnLst/>
            <a:rect l="l" t="t" r="r" b="b"/>
            <a:pathLst>
              <a:path w="18744108" h="10530781">
                <a:moveTo>
                  <a:pt x="0" y="0"/>
                </a:moveTo>
                <a:lnTo>
                  <a:pt x="18744108" y="0"/>
                </a:lnTo>
                <a:lnTo>
                  <a:pt x="18744108" y="10530780"/>
                </a:lnTo>
                <a:lnTo>
                  <a:pt x="0" y="10530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348316" y="1233406"/>
            <a:ext cx="8376383" cy="8300234"/>
          </a:xfrm>
          <a:custGeom>
            <a:avLst/>
            <a:gdLst/>
            <a:ahLst/>
            <a:cxnLst/>
            <a:rect l="l" t="t" r="r" b="b"/>
            <a:pathLst>
              <a:path w="8376383" h="8300234">
                <a:moveTo>
                  <a:pt x="0" y="0"/>
                </a:moveTo>
                <a:lnTo>
                  <a:pt x="8376383" y="0"/>
                </a:lnTo>
                <a:lnTo>
                  <a:pt x="8376383" y="8300235"/>
                </a:lnTo>
                <a:lnTo>
                  <a:pt x="0" y="8300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763794" y="1028700"/>
            <a:ext cx="8376383" cy="8300234"/>
          </a:xfrm>
          <a:custGeom>
            <a:avLst/>
            <a:gdLst/>
            <a:ahLst/>
            <a:cxnLst/>
            <a:rect l="l" t="t" r="r" b="b"/>
            <a:pathLst>
              <a:path w="8376383" h="8300234">
                <a:moveTo>
                  <a:pt x="0" y="0"/>
                </a:moveTo>
                <a:lnTo>
                  <a:pt x="8376383" y="0"/>
                </a:lnTo>
                <a:lnTo>
                  <a:pt x="8376383" y="8300234"/>
                </a:lnTo>
                <a:lnTo>
                  <a:pt x="0" y="830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071445">
            <a:off x="2219954" y="7574690"/>
            <a:ext cx="2428753" cy="2482926"/>
          </a:xfrm>
          <a:custGeom>
            <a:avLst/>
            <a:gdLst/>
            <a:ahLst/>
            <a:cxnLst/>
            <a:rect l="l" t="t" r="r" b="b"/>
            <a:pathLst>
              <a:path w="2428753" h="2482926">
                <a:moveTo>
                  <a:pt x="0" y="0"/>
                </a:moveTo>
                <a:lnTo>
                  <a:pt x="2428753" y="0"/>
                </a:lnTo>
                <a:lnTo>
                  <a:pt x="2428753" y="2482925"/>
                </a:lnTo>
                <a:lnTo>
                  <a:pt x="0" y="24829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888943">
            <a:off x="15000543" y="3570579"/>
            <a:ext cx="2298318" cy="3216476"/>
          </a:xfrm>
          <a:custGeom>
            <a:avLst/>
            <a:gdLst/>
            <a:ahLst/>
            <a:cxnLst/>
            <a:rect l="l" t="t" r="r" b="b"/>
            <a:pathLst>
              <a:path w="2298318" h="3216476">
                <a:moveTo>
                  <a:pt x="0" y="0"/>
                </a:moveTo>
                <a:lnTo>
                  <a:pt x="2298318" y="0"/>
                </a:lnTo>
                <a:lnTo>
                  <a:pt x="2298318" y="3216476"/>
                </a:lnTo>
                <a:lnTo>
                  <a:pt x="0" y="3216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638208"/>
            <a:ext cx="15524272" cy="16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91"/>
              </a:lnSpc>
            </a:pPr>
            <a:r>
              <a:rPr lang="en-US" sz="12367">
                <a:solidFill>
                  <a:srgbClr val="F791AF"/>
                </a:solidFill>
                <a:latin typeface="Sensei"/>
                <a:ea typeface="Sensei"/>
                <a:cs typeface="Sensei"/>
                <a:sym typeface="Sensei"/>
              </a:rPr>
              <a:t>Tujuan Pembelajaran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75844" y="3503415"/>
            <a:ext cx="10336311" cy="480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3266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Setelah mempelajari materi ini, mahasiswa diharapkan mampu:</a:t>
            </a:r>
          </a:p>
          <a:p>
            <a:pPr marL="705314" lvl="1" indent="-352657" algn="l">
              <a:lnSpc>
                <a:spcPts val="3299"/>
              </a:lnSpc>
              <a:buAutoNum type="arabicPeriod"/>
            </a:pPr>
            <a:r>
              <a:rPr lang="en-US" sz="3266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Memahami konsep dasar logaritma dan sifat-sifatnya.</a:t>
            </a:r>
          </a:p>
          <a:p>
            <a:pPr marL="705314" lvl="1" indent="-352657" algn="l">
              <a:lnSpc>
                <a:spcPts val="3299"/>
              </a:lnSpc>
              <a:buAutoNum type="arabicPeriod"/>
            </a:pPr>
            <a:r>
              <a:rPr lang="en-US" sz="3266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Menerapkan aturan logaritma dalam penyederhanaan ekspresi matematika.</a:t>
            </a:r>
          </a:p>
          <a:p>
            <a:pPr marL="705314" lvl="1" indent="-352657" algn="l">
              <a:lnSpc>
                <a:spcPts val="3299"/>
              </a:lnSpc>
              <a:buAutoNum type="arabicPeriod"/>
            </a:pPr>
            <a:r>
              <a:rPr lang="en-US" sz="3266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Menganalisis grafik fungsi logaritma.</a:t>
            </a:r>
          </a:p>
          <a:p>
            <a:pPr marL="705314" lvl="1" indent="-352657" algn="l">
              <a:lnSpc>
                <a:spcPts val="3299"/>
              </a:lnSpc>
              <a:buAutoNum type="arabicPeriod"/>
            </a:pPr>
            <a:r>
              <a:rPr lang="en-US" sz="3266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Menggunakan fungsi logaritma dalam pemecahan masalah terkait teknik informatika.</a:t>
            </a:r>
          </a:p>
          <a:p>
            <a:pPr algn="l">
              <a:lnSpc>
                <a:spcPts val="3299"/>
              </a:lnSpc>
            </a:pPr>
            <a:endParaRPr lang="en-US" sz="3266">
              <a:solidFill>
                <a:srgbClr val="F791AF"/>
              </a:solidFill>
              <a:latin typeface="Mommi"/>
              <a:ea typeface="Mommi"/>
              <a:cs typeface="Mommi"/>
              <a:sym typeface="Momm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054" y="-121890"/>
            <a:ext cx="18744108" cy="10530781"/>
          </a:xfrm>
          <a:custGeom>
            <a:avLst/>
            <a:gdLst/>
            <a:ahLst/>
            <a:cxnLst/>
            <a:rect l="l" t="t" r="r" b="b"/>
            <a:pathLst>
              <a:path w="18744108" h="10530781">
                <a:moveTo>
                  <a:pt x="0" y="0"/>
                </a:moveTo>
                <a:lnTo>
                  <a:pt x="18744108" y="0"/>
                </a:lnTo>
                <a:lnTo>
                  <a:pt x="18744108" y="10530780"/>
                </a:lnTo>
                <a:lnTo>
                  <a:pt x="0" y="10530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55621">
            <a:off x="2744143" y="-897490"/>
            <a:ext cx="12772409" cy="12707818"/>
          </a:xfrm>
          <a:custGeom>
            <a:avLst/>
            <a:gdLst/>
            <a:ahLst/>
            <a:cxnLst/>
            <a:rect l="l" t="t" r="r" b="b"/>
            <a:pathLst>
              <a:path w="13003523" h="13077323">
                <a:moveTo>
                  <a:pt x="0" y="0"/>
                </a:moveTo>
                <a:lnTo>
                  <a:pt x="13003523" y="0"/>
                </a:lnTo>
                <a:lnTo>
                  <a:pt x="13003523" y="13077323"/>
                </a:lnTo>
                <a:lnTo>
                  <a:pt x="0" y="13077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767416">
            <a:off x="874241" y="7793982"/>
            <a:ext cx="1609016" cy="1644905"/>
          </a:xfrm>
          <a:custGeom>
            <a:avLst/>
            <a:gdLst/>
            <a:ahLst/>
            <a:cxnLst/>
            <a:rect l="l" t="t" r="r" b="b"/>
            <a:pathLst>
              <a:path w="1609016" h="1644905">
                <a:moveTo>
                  <a:pt x="0" y="0"/>
                </a:moveTo>
                <a:lnTo>
                  <a:pt x="1609015" y="0"/>
                </a:lnTo>
                <a:lnTo>
                  <a:pt x="1609015" y="1644905"/>
                </a:lnTo>
                <a:lnTo>
                  <a:pt x="0" y="1644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888943">
            <a:off x="16480609" y="2801070"/>
            <a:ext cx="1557382" cy="2179542"/>
          </a:xfrm>
          <a:custGeom>
            <a:avLst/>
            <a:gdLst/>
            <a:ahLst/>
            <a:cxnLst/>
            <a:rect l="l" t="t" r="r" b="b"/>
            <a:pathLst>
              <a:path w="1557382" h="2179542">
                <a:moveTo>
                  <a:pt x="0" y="0"/>
                </a:moveTo>
                <a:lnTo>
                  <a:pt x="1557382" y="0"/>
                </a:lnTo>
                <a:lnTo>
                  <a:pt x="1557382" y="2179541"/>
                </a:lnTo>
                <a:lnTo>
                  <a:pt x="0" y="21795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15231">
            <a:off x="325594" y="39310"/>
            <a:ext cx="1594666" cy="1866098"/>
          </a:xfrm>
          <a:custGeom>
            <a:avLst/>
            <a:gdLst/>
            <a:ahLst/>
            <a:cxnLst/>
            <a:rect l="l" t="t" r="r" b="b"/>
            <a:pathLst>
              <a:path w="1594666" h="1866098">
                <a:moveTo>
                  <a:pt x="0" y="0"/>
                </a:moveTo>
                <a:lnTo>
                  <a:pt x="1594665" y="0"/>
                </a:lnTo>
                <a:lnTo>
                  <a:pt x="1594665" y="1866098"/>
                </a:lnTo>
                <a:lnTo>
                  <a:pt x="0" y="18660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64681" y="2230340"/>
            <a:ext cx="16088911" cy="16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91"/>
              </a:lnSpc>
            </a:pPr>
            <a:r>
              <a:rPr lang="en-US" sz="12367">
                <a:solidFill>
                  <a:srgbClr val="F791AF"/>
                </a:solidFill>
                <a:latin typeface="Sensei"/>
                <a:ea typeface="Sensei"/>
                <a:cs typeface="Sensei"/>
                <a:sym typeface="Sensei"/>
              </a:rPr>
              <a:t>Indikator Pencapaian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76218" y="4009622"/>
            <a:ext cx="11535565" cy="370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255" lvl="1" indent="-342628" algn="l">
              <a:lnSpc>
                <a:spcPts val="3205"/>
              </a:lnSpc>
              <a:buFont typeface="Arial"/>
              <a:buChar char="•"/>
            </a:pPr>
            <a:r>
              <a:rPr lang="en-US" sz="3173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Menjelaskan definisi logaritma.</a:t>
            </a:r>
          </a:p>
          <a:p>
            <a:pPr marL="685255" lvl="1" indent="-342628" algn="l">
              <a:lnSpc>
                <a:spcPts val="3205"/>
              </a:lnSpc>
              <a:buFont typeface="Arial"/>
              <a:buChar char="•"/>
            </a:pPr>
            <a:r>
              <a:rPr lang="en-US" sz="3173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Menguraikan dan menggunakan sifat-sifat logaritma.</a:t>
            </a:r>
          </a:p>
          <a:p>
            <a:pPr marL="685255" lvl="1" indent="-342628" algn="l">
              <a:lnSpc>
                <a:spcPts val="3205"/>
              </a:lnSpc>
              <a:buFont typeface="Arial"/>
              <a:buChar char="•"/>
            </a:pPr>
            <a:r>
              <a:rPr lang="en-US" sz="3173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Menggambar dan menginterpretasikan grafik fungsi logaritma.</a:t>
            </a:r>
          </a:p>
          <a:p>
            <a:pPr marL="685255" lvl="1" indent="-342628" algn="l">
              <a:lnSpc>
                <a:spcPts val="3205"/>
              </a:lnSpc>
              <a:buFont typeface="Arial"/>
              <a:buChar char="•"/>
            </a:pPr>
            <a:r>
              <a:rPr lang="en-US" sz="3173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Menyelesaikan soal yang berkaitan dengan fungsi logaritma.</a:t>
            </a:r>
          </a:p>
          <a:p>
            <a:pPr marL="685255" lvl="1" indent="-342628" algn="l">
              <a:lnSpc>
                <a:spcPts val="3205"/>
              </a:lnSpc>
              <a:buFont typeface="Arial"/>
              <a:buChar char="•"/>
            </a:pPr>
            <a:r>
              <a:rPr lang="en-US" sz="3173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Mengaitkan konsep logaritma dengan penerapannya pada bidang informatika.</a:t>
            </a:r>
          </a:p>
          <a:p>
            <a:pPr algn="ctr">
              <a:lnSpc>
                <a:spcPts val="2238"/>
              </a:lnSpc>
            </a:pPr>
            <a:endParaRPr lang="en-US" sz="3173">
              <a:solidFill>
                <a:srgbClr val="F791AF"/>
              </a:solidFill>
              <a:latin typeface="Mommi"/>
              <a:ea typeface="Mommi"/>
              <a:cs typeface="Mommi"/>
              <a:sym typeface="Momm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054" y="-121890"/>
            <a:ext cx="18744108" cy="10530781"/>
          </a:xfrm>
          <a:custGeom>
            <a:avLst/>
            <a:gdLst/>
            <a:ahLst/>
            <a:cxnLst/>
            <a:rect l="l" t="t" r="r" b="b"/>
            <a:pathLst>
              <a:path w="18744108" h="10530781">
                <a:moveTo>
                  <a:pt x="0" y="0"/>
                </a:moveTo>
                <a:lnTo>
                  <a:pt x="18744108" y="0"/>
                </a:lnTo>
                <a:lnTo>
                  <a:pt x="18744108" y="10530780"/>
                </a:lnTo>
                <a:lnTo>
                  <a:pt x="0" y="10530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69315" y="1773216"/>
            <a:ext cx="8309751" cy="8204828"/>
          </a:xfrm>
          <a:custGeom>
            <a:avLst/>
            <a:gdLst/>
            <a:ahLst/>
            <a:cxnLst/>
            <a:rect l="l" t="t" r="r" b="b"/>
            <a:pathLst>
              <a:path w="10328506" h="10234611">
                <a:moveTo>
                  <a:pt x="0" y="0"/>
                </a:moveTo>
                <a:lnTo>
                  <a:pt x="10328506" y="0"/>
                </a:lnTo>
                <a:lnTo>
                  <a:pt x="10328506" y="10234611"/>
                </a:lnTo>
                <a:lnTo>
                  <a:pt x="0" y="102346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529300" y="1555328"/>
            <a:ext cx="8714304" cy="8129621"/>
          </a:xfrm>
          <a:custGeom>
            <a:avLst/>
            <a:gdLst/>
            <a:ahLst/>
            <a:cxnLst/>
            <a:rect l="l" t="t" r="r" b="b"/>
            <a:pathLst>
              <a:path w="9908106" h="9818032">
                <a:moveTo>
                  <a:pt x="0" y="0"/>
                </a:moveTo>
                <a:lnTo>
                  <a:pt x="9908106" y="0"/>
                </a:lnTo>
                <a:lnTo>
                  <a:pt x="9908106" y="9818032"/>
                </a:lnTo>
                <a:lnTo>
                  <a:pt x="0" y="98180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071445">
            <a:off x="1640532" y="6424099"/>
            <a:ext cx="2428753" cy="2482926"/>
          </a:xfrm>
          <a:custGeom>
            <a:avLst/>
            <a:gdLst/>
            <a:ahLst/>
            <a:cxnLst/>
            <a:rect l="l" t="t" r="r" b="b"/>
            <a:pathLst>
              <a:path w="2428753" h="2482926">
                <a:moveTo>
                  <a:pt x="0" y="0"/>
                </a:moveTo>
                <a:lnTo>
                  <a:pt x="2428753" y="0"/>
                </a:lnTo>
                <a:lnTo>
                  <a:pt x="2428753" y="2482926"/>
                </a:lnTo>
                <a:lnTo>
                  <a:pt x="0" y="24829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888943">
            <a:off x="15616643" y="2163279"/>
            <a:ext cx="2298318" cy="3216476"/>
          </a:xfrm>
          <a:custGeom>
            <a:avLst/>
            <a:gdLst/>
            <a:ahLst/>
            <a:cxnLst/>
            <a:rect l="l" t="t" r="r" b="b"/>
            <a:pathLst>
              <a:path w="2298318" h="3216476">
                <a:moveTo>
                  <a:pt x="0" y="0"/>
                </a:moveTo>
                <a:lnTo>
                  <a:pt x="2298318" y="0"/>
                </a:lnTo>
                <a:lnTo>
                  <a:pt x="2298318" y="3216475"/>
                </a:lnTo>
                <a:lnTo>
                  <a:pt x="0" y="32164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47290" y="1867572"/>
            <a:ext cx="13598805" cy="1119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</a:pPr>
            <a:r>
              <a:rPr lang="en-US" sz="8304">
                <a:solidFill>
                  <a:srgbClr val="F791AF"/>
                </a:solidFill>
                <a:latin typeface="Sensei"/>
                <a:ea typeface="Sensei"/>
                <a:cs typeface="Sensei"/>
                <a:sym typeface="Sensei"/>
              </a:rPr>
              <a:t>Konsep Dasar Logaritma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5721" y="4019084"/>
            <a:ext cx="2450556" cy="1174225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01196" y="4088803"/>
            <a:ext cx="3562784" cy="1195111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26691" y="6343449"/>
            <a:ext cx="5834046" cy="1568869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273706" y="3551989"/>
            <a:ext cx="1514070" cy="672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8"/>
              </a:lnSpc>
            </a:pPr>
            <a:r>
              <a:rPr lang="en-US" sz="3444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jika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31874" y="3714930"/>
            <a:ext cx="1980180" cy="672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8"/>
              </a:lnSpc>
            </a:pPr>
            <a:r>
              <a:rPr lang="en-US" sz="3444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maka 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81524" y="6013355"/>
            <a:ext cx="1592162" cy="625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7"/>
              </a:lnSpc>
            </a:pPr>
            <a:r>
              <a:rPr lang="en-US" sz="3195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syarat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83866" y="6723478"/>
            <a:ext cx="3573851" cy="1024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3037" lvl="1" indent="-351518" algn="l">
              <a:lnSpc>
                <a:spcPts val="3288"/>
              </a:lnSpc>
              <a:buFont typeface="Arial"/>
              <a:buChar char="•"/>
            </a:pPr>
            <a:r>
              <a:rPr lang="en-US" sz="3256">
                <a:solidFill>
                  <a:srgbClr val="000000"/>
                </a:solidFill>
                <a:latin typeface="Mommi"/>
                <a:ea typeface="Mommi"/>
                <a:cs typeface="Mommi"/>
                <a:sym typeface="Mommi"/>
              </a:rPr>
              <a:t>a &gt; 0, a≠ 1</a:t>
            </a:r>
          </a:p>
          <a:p>
            <a:pPr marL="703037" lvl="1" indent="-351518" algn="l">
              <a:lnSpc>
                <a:spcPts val="3288"/>
              </a:lnSpc>
              <a:buFont typeface="Arial"/>
              <a:buChar char="•"/>
            </a:pPr>
            <a:r>
              <a:rPr lang="en-US" sz="3256">
                <a:solidFill>
                  <a:srgbClr val="000000"/>
                </a:solidFill>
                <a:latin typeface="Mommi"/>
                <a:ea typeface="Mommi"/>
                <a:cs typeface="Mommi"/>
                <a:sym typeface="Mommi"/>
              </a:rPr>
              <a:t>c &gt; 0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33735" y="6007856"/>
            <a:ext cx="1940204" cy="631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3232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contoh 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054" y="-121890"/>
            <a:ext cx="18744108" cy="10530781"/>
          </a:xfrm>
          <a:custGeom>
            <a:avLst/>
            <a:gdLst/>
            <a:ahLst/>
            <a:cxnLst/>
            <a:rect l="l" t="t" r="r" b="b"/>
            <a:pathLst>
              <a:path w="18744108" h="10530781">
                <a:moveTo>
                  <a:pt x="0" y="0"/>
                </a:moveTo>
                <a:lnTo>
                  <a:pt x="18744108" y="0"/>
                </a:lnTo>
                <a:lnTo>
                  <a:pt x="18744108" y="10530780"/>
                </a:lnTo>
                <a:lnTo>
                  <a:pt x="0" y="10530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42093" y="6304702"/>
            <a:ext cx="2802090" cy="3982298"/>
          </a:xfrm>
          <a:custGeom>
            <a:avLst/>
            <a:gdLst/>
            <a:ahLst/>
            <a:cxnLst/>
            <a:rect l="l" t="t" r="r" b="b"/>
            <a:pathLst>
              <a:path w="2802090" h="3982298">
                <a:moveTo>
                  <a:pt x="0" y="0"/>
                </a:moveTo>
                <a:lnTo>
                  <a:pt x="2802090" y="0"/>
                </a:lnTo>
                <a:lnTo>
                  <a:pt x="2802090" y="3982298"/>
                </a:lnTo>
                <a:lnTo>
                  <a:pt x="0" y="39822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09147" y="3981702"/>
            <a:ext cx="6857587" cy="5740293"/>
            <a:chOff x="0" y="0"/>
            <a:chExt cx="1806113" cy="15118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06113" cy="1511847"/>
            </a:xfrm>
            <a:custGeom>
              <a:avLst/>
              <a:gdLst/>
              <a:ahLst/>
              <a:cxnLst/>
              <a:rect l="l" t="t" r="r" b="b"/>
              <a:pathLst>
                <a:path w="1806113" h="1511847">
                  <a:moveTo>
                    <a:pt x="57577" y="0"/>
                  </a:moveTo>
                  <a:lnTo>
                    <a:pt x="1748537" y="0"/>
                  </a:lnTo>
                  <a:cubicBezTo>
                    <a:pt x="1780335" y="0"/>
                    <a:pt x="1806113" y="25778"/>
                    <a:pt x="1806113" y="57577"/>
                  </a:cubicBezTo>
                  <a:lnTo>
                    <a:pt x="1806113" y="1454270"/>
                  </a:lnTo>
                  <a:cubicBezTo>
                    <a:pt x="1806113" y="1486069"/>
                    <a:pt x="1780335" y="1511847"/>
                    <a:pt x="1748537" y="1511847"/>
                  </a:cubicBezTo>
                  <a:lnTo>
                    <a:pt x="57577" y="1511847"/>
                  </a:lnTo>
                  <a:cubicBezTo>
                    <a:pt x="25778" y="1511847"/>
                    <a:pt x="0" y="1486069"/>
                    <a:pt x="0" y="1454270"/>
                  </a:cubicBezTo>
                  <a:lnTo>
                    <a:pt x="0" y="57577"/>
                  </a:lnTo>
                  <a:cubicBezTo>
                    <a:pt x="0" y="25778"/>
                    <a:pt x="25778" y="0"/>
                    <a:pt x="57577" y="0"/>
                  </a:cubicBezTo>
                  <a:close/>
                </a:path>
              </a:pathLst>
            </a:custGeom>
            <a:solidFill>
              <a:srgbClr val="F791A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806113" cy="1549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967444" y="4233228"/>
            <a:ext cx="6268234" cy="5227188"/>
            <a:chOff x="0" y="0"/>
            <a:chExt cx="1650893" cy="137670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50893" cy="1376708"/>
            </a:xfrm>
            <a:custGeom>
              <a:avLst/>
              <a:gdLst/>
              <a:ahLst/>
              <a:cxnLst/>
              <a:rect l="l" t="t" r="r" b="b"/>
              <a:pathLst>
                <a:path w="1650893" h="1376708">
                  <a:moveTo>
                    <a:pt x="62990" y="0"/>
                  </a:moveTo>
                  <a:lnTo>
                    <a:pt x="1587903" y="0"/>
                  </a:lnTo>
                  <a:cubicBezTo>
                    <a:pt x="1604609" y="0"/>
                    <a:pt x="1620631" y="6636"/>
                    <a:pt x="1632444" y="18449"/>
                  </a:cubicBezTo>
                  <a:cubicBezTo>
                    <a:pt x="1644257" y="30262"/>
                    <a:pt x="1650893" y="46284"/>
                    <a:pt x="1650893" y="62990"/>
                  </a:cubicBezTo>
                  <a:lnTo>
                    <a:pt x="1650893" y="1313718"/>
                  </a:lnTo>
                  <a:cubicBezTo>
                    <a:pt x="1650893" y="1348506"/>
                    <a:pt x="1622691" y="1376708"/>
                    <a:pt x="1587903" y="1376708"/>
                  </a:cubicBezTo>
                  <a:lnTo>
                    <a:pt x="62990" y="1376708"/>
                  </a:lnTo>
                  <a:cubicBezTo>
                    <a:pt x="46284" y="1376708"/>
                    <a:pt x="30262" y="1370072"/>
                    <a:pt x="18449" y="1358258"/>
                  </a:cubicBezTo>
                  <a:cubicBezTo>
                    <a:pt x="6636" y="1346446"/>
                    <a:pt x="0" y="1330424"/>
                    <a:pt x="0" y="1313718"/>
                  </a:cubicBezTo>
                  <a:lnTo>
                    <a:pt x="0" y="62990"/>
                  </a:lnTo>
                  <a:cubicBezTo>
                    <a:pt x="0" y="28202"/>
                    <a:pt x="28202" y="0"/>
                    <a:pt x="62990" y="0"/>
                  </a:cubicBezTo>
                  <a:close/>
                </a:path>
              </a:pathLst>
            </a:custGeom>
            <a:solidFill>
              <a:srgbClr val="FDFEFD"/>
            </a:solidFill>
            <a:ln w="38100" cap="rnd">
              <a:solidFill>
                <a:srgbClr val="FFDAE5"/>
              </a:solidFill>
              <a:prstDash val="dash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50893" cy="1414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697715">
            <a:off x="508516" y="1137966"/>
            <a:ext cx="1500065" cy="4084336"/>
          </a:xfrm>
          <a:custGeom>
            <a:avLst/>
            <a:gdLst/>
            <a:ahLst/>
            <a:cxnLst/>
            <a:rect l="l" t="t" r="r" b="b"/>
            <a:pathLst>
              <a:path w="1500065" h="4084336">
                <a:moveTo>
                  <a:pt x="0" y="0"/>
                </a:moveTo>
                <a:lnTo>
                  <a:pt x="1500065" y="0"/>
                </a:lnTo>
                <a:lnTo>
                  <a:pt x="1500065" y="4084335"/>
                </a:lnTo>
                <a:lnTo>
                  <a:pt x="0" y="40843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809091" y="529402"/>
            <a:ext cx="12669819" cy="3241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91"/>
              </a:lnSpc>
            </a:pPr>
            <a:r>
              <a:rPr lang="en-US" sz="12367">
                <a:solidFill>
                  <a:srgbClr val="F791AF"/>
                </a:solidFill>
                <a:latin typeface="Sensei"/>
                <a:ea typeface="Sensei"/>
                <a:cs typeface="Sensei"/>
                <a:sym typeface="Sensei"/>
              </a:rPr>
              <a:t>Sifat - Sifat Logaritma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7907" y="5308209"/>
            <a:ext cx="5857772" cy="1425166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7907" y="7236461"/>
            <a:ext cx="5857772" cy="199983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100794" y="4594510"/>
            <a:ext cx="2865140" cy="53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7"/>
              </a:lnSpc>
            </a:pPr>
            <a:r>
              <a:rPr lang="en-US" sz="2690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sifat perkalian 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00794" y="6722997"/>
            <a:ext cx="3103862" cy="53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7"/>
              </a:lnSpc>
            </a:pPr>
            <a:r>
              <a:rPr lang="en-US" sz="2690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sifat pembagian :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00919" y="3981702"/>
            <a:ext cx="6857587" cy="5740293"/>
            <a:chOff x="0" y="0"/>
            <a:chExt cx="1806113" cy="151184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06113" cy="1511847"/>
            </a:xfrm>
            <a:custGeom>
              <a:avLst/>
              <a:gdLst/>
              <a:ahLst/>
              <a:cxnLst/>
              <a:rect l="l" t="t" r="r" b="b"/>
              <a:pathLst>
                <a:path w="1806113" h="1511847">
                  <a:moveTo>
                    <a:pt x="57577" y="0"/>
                  </a:moveTo>
                  <a:lnTo>
                    <a:pt x="1748537" y="0"/>
                  </a:lnTo>
                  <a:cubicBezTo>
                    <a:pt x="1780335" y="0"/>
                    <a:pt x="1806113" y="25778"/>
                    <a:pt x="1806113" y="57577"/>
                  </a:cubicBezTo>
                  <a:lnTo>
                    <a:pt x="1806113" y="1454270"/>
                  </a:lnTo>
                  <a:cubicBezTo>
                    <a:pt x="1806113" y="1486069"/>
                    <a:pt x="1780335" y="1511847"/>
                    <a:pt x="1748537" y="1511847"/>
                  </a:cubicBezTo>
                  <a:lnTo>
                    <a:pt x="57577" y="1511847"/>
                  </a:lnTo>
                  <a:cubicBezTo>
                    <a:pt x="25778" y="1511847"/>
                    <a:pt x="0" y="1486069"/>
                    <a:pt x="0" y="1454270"/>
                  </a:cubicBezTo>
                  <a:lnTo>
                    <a:pt x="0" y="57577"/>
                  </a:lnTo>
                  <a:cubicBezTo>
                    <a:pt x="0" y="25778"/>
                    <a:pt x="25778" y="0"/>
                    <a:pt x="57577" y="0"/>
                  </a:cubicBezTo>
                  <a:close/>
                </a:path>
              </a:pathLst>
            </a:custGeom>
            <a:solidFill>
              <a:srgbClr val="F791A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806113" cy="1549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459216" y="4233228"/>
            <a:ext cx="6268234" cy="5227188"/>
            <a:chOff x="0" y="0"/>
            <a:chExt cx="1650893" cy="13767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50893" cy="1376708"/>
            </a:xfrm>
            <a:custGeom>
              <a:avLst/>
              <a:gdLst/>
              <a:ahLst/>
              <a:cxnLst/>
              <a:rect l="l" t="t" r="r" b="b"/>
              <a:pathLst>
                <a:path w="1650893" h="1376708">
                  <a:moveTo>
                    <a:pt x="62990" y="0"/>
                  </a:moveTo>
                  <a:lnTo>
                    <a:pt x="1587903" y="0"/>
                  </a:lnTo>
                  <a:cubicBezTo>
                    <a:pt x="1604609" y="0"/>
                    <a:pt x="1620631" y="6636"/>
                    <a:pt x="1632444" y="18449"/>
                  </a:cubicBezTo>
                  <a:cubicBezTo>
                    <a:pt x="1644257" y="30262"/>
                    <a:pt x="1650893" y="46284"/>
                    <a:pt x="1650893" y="62990"/>
                  </a:cubicBezTo>
                  <a:lnTo>
                    <a:pt x="1650893" y="1313718"/>
                  </a:lnTo>
                  <a:cubicBezTo>
                    <a:pt x="1650893" y="1348506"/>
                    <a:pt x="1622691" y="1376708"/>
                    <a:pt x="1587903" y="1376708"/>
                  </a:cubicBezTo>
                  <a:lnTo>
                    <a:pt x="62990" y="1376708"/>
                  </a:lnTo>
                  <a:cubicBezTo>
                    <a:pt x="46284" y="1376708"/>
                    <a:pt x="30262" y="1370072"/>
                    <a:pt x="18449" y="1358258"/>
                  </a:cubicBezTo>
                  <a:cubicBezTo>
                    <a:pt x="6636" y="1346446"/>
                    <a:pt x="0" y="1330424"/>
                    <a:pt x="0" y="1313718"/>
                  </a:cubicBezTo>
                  <a:lnTo>
                    <a:pt x="0" y="62990"/>
                  </a:lnTo>
                  <a:cubicBezTo>
                    <a:pt x="0" y="28202"/>
                    <a:pt x="28202" y="0"/>
                    <a:pt x="62990" y="0"/>
                  </a:cubicBezTo>
                  <a:close/>
                </a:path>
              </a:pathLst>
            </a:custGeom>
            <a:solidFill>
              <a:srgbClr val="FDFEFD"/>
            </a:solidFill>
            <a:ln w="38100" cap="rnd">
              <a:solidFill>
                <a:srgbClr val="FFDAE5"/>
              </a:solidFill>
              <a:prstDash val="dash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650893" cy="1414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79190" y="6992629"/>
            <a:ext cx="4701044" cy="2242982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69909" y="4998178"/>
            <a:ext cx="5519609" cy="1596358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9728193" y="4594510"/>
            <a:ext cx="3697779" cy="53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7"/>
              </a:lnSpc>
            </a:pPr>
            <a:r>
              <a:rPr lang="en-US" sz="2690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sifat perpangkatan 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94599" y="6518811"/>
            <a:ext cx="3697779" cy="53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7"/>
              </a:lnSpc>
            </a:pPr>
            <a:r>
              <a:rPr lang="en-US" sz="2690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perubahan basis 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5108" y="-121890"/>
            <a:ext cx="18744108" cy="10530781"/>
          </a:xfrm>
          <a:custGeom>
            <a:avLst/>
            <a:gdLst/>
            <a:ahLst/>
            <a:cxnLst/>
            <a:rect l="l" t="t" r="r" b="b"/>
            <a:pathLst>
              <a:path w="18744108" h="10530781">
                <a:moveTo>
                  <a:pt x="0" y="0"/>
                </a:moveTo>
                <a:lnTo>
                  <a:pt x="18744108" y="0"/>
                </a:lnTo>
                <a:lnTo>
                  <a:pt x="18744108" y="10530780"/>
                </a:lnTo>
                <a:lnTo>
                  <a:pt x="0" y="10530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45756" y="2286438"/>
            <a:ext cx="14328553" cy="4845656"/>
          </a:xfrm>
          <a:custGeom>
            <a:avLst/>
            <a:gdLst/>
            <a:ahLst/>
            <a:cxnLst/>
            <a:rect l="l" t="t" r="r" b="b"/>
            <a:pathLst>
              <a:path w="14328553" h="4845656">
                <a:moveTo>
                  <a:pt x="0" y="0"/>
                </a:moveTo>
                <a:lnTo>
                  <a:pt x="14328554" y="0"/>
                </a:lnTo>
                <a:lnTo>
                  <a:pt x="14328554" y="4845656"/>
                </a:lnTo>
                <a:lnTo>
                  <a:pt x="0" y="4845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9503" y="1028700"/>
            <a:ext cx="2249797" cy="3197385"/>
          </a:xfrm>
          <a:custGeom>
            <a:avLst/>
            <a:gdLst/>
            <a:ahLst/>
            <a:cxnLst/>
            <a:rect l="l" t="t" r="r" b="b"/>
            <a:pathLst>
              <a:path w="2249797" h="3197385">
                <a:moveTo>
                  <a:pt x="0" y="0"/>
                </a:moveTo>
                <a:lnTo>
                  <a:pt x="2249797" y="0"/>
                </a:lnTo>
                <a:lnTo>
                  <a:pt x="2249797" y="3197385"/>
                </a:lnTo>
                <a:lnTo>
                  <a:pt x="0" y="3197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045756" y="4766914"/>
            <a:ext cx="14328553" cy="4845656"/>
          </a:xfrm>
          <a:custGeom>
            <a:avLst/>
            <a:gdLst/>
            <a:ahLst/>
            <a:cxnLst/>
            <a:rect l="l" t="t" r="r" b="b"/>
            <a:pathLst>
              <a:path w="14328553" h="4845656">
                <a:moveTo>
                  <a:pt x="0" y="0"/>
                </a:moveTo>
                <a:lnTo>
                  <a:pt x="14328554" y="0"/>
                </a:lnTo>
                <a:lnTo>
                  <a:pt x="14328554" y="4845656"/>
                </a:lnTo>
                <a:lnTo>
                  <a:pt x="0" y="4845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34686">
            <a:off x="1688122" y="6141816"/>
            <a:ext cx="1235231" cy="3363253"/>
          </a:xfrm>
          <a:custGeom>
            <a:avLst/>
            <a:gdLst/>
            <a:ahLst/>
            <a:cxnLst/>
            <a:rect l="l" t="t" r="r" b="b"/>
            <a:pathLst>
              <a:path w="1235231" h="3363253">
                <a:moveTo>
                  <a:pt x="0" y="0"/>
                </a:moveTo>
                <a:lnTo>
                  <a:pt x="1235231" y="0"/>
                </a:lnTo>
                <a:lnTo>
                  <a:pt x="1235231" y="3363254"/>
                </a:lnTo>
                <a:lnTo>
                  <a:pt x="0" y="33632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99796" y="374810"/>
            <a:ext cx="9022741" cy="3051327"/>
          </a:xfrm>
          <a:custGeom>
            <a:avLst/>
            <a:gdLst/>
            <a:ahLst/>
            <a:cxnLst/>
            <a:rect l="l" t="t" r="r" b="b"/>
            <a:pathLst>
              <a:path w="9022741" h="3051327">
                <a:moveTo>
                  <a:pt x="0" y="0"/>
                </a:moveTo>
                <a:lnTo>
                  <a:pt x="9022740" y="0"/>
                </a:lnTo>
                <a:lnTo>
                  <a:pt x="9022740" y="3051327"/>
                </a:lnTo>
                <a:lnTo>
                  <a:pt x="0" y="30513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49875" y="676467"/>
            <a:ext cx="11122581" cy="261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58"/>
              </a:lnSpc>
            </a:pPr>
            <a:r>
              <a:rPr lang="en-US" sz="9959">
                <a:solidFill>
                  <a:srgbClr val="F791AF"/>
                </a:solidFill>
                <a:latin typeface="Sensei"/>
                <a:ea typeface="Sensei"/>
                <a:cs typeface="Sensei"/>
                <a:sym typeface="Sensei"/>
              </a:rPr>
              <a:t>grafik fungsi logaritma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20440" y="3970871"/>
            <a:ext cx="12489063" cy="915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4471" lvl="1" indent="-377236" algn="l">
              <a:lnSpc>
                <a:spcPts val="3529"/>
              </a:lnSpc>
              <a:buFont typeface="Arial"/>
              <a:buChar char="•"/>
            </a:pPr>
            <a:r>
              <a:rPr lang="en-US" sz="3494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Grafik fungsi f (x) =            meningkat untuk a &gt; 1</a:t>
            </a:r>
          </a:p>
          <a:p>
            <a:pPr marL="754471" lvl="1" indent="-377236" algn="l">
              <a:lnSpc>
                <a:spcPts val="3529"/>
              </a:lnSpc>
              <a:buFont typeface="Arial"/>
              <a:buChar char="•"/>
            </a:pPr>
            <a:r>
              <a:rPr lang="en-US" sz="3494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Grafik fungsi             memiliki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45338" y="5151701"/>
            <a:ext cx="12489063" cy="1364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4472" lvl="1" indent="-377236" algn="l">
              <a:lnSpc>
                <a:spcPts val="3529"/>
              </a:lnSpc>
              <a:buFont typeface="Arial"/>
              <a:buChar char="•"/>
            </a:pPr>
            <a:r>
              <a:rPr lang="en-US" sz="3494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domain :(</a:t>
            </a:r>
            <a:r>
              <a:rPr lang="en-US" sz="3494">
                <a:latin typeface="Microsoft Tai Le" panose="020B0502040204020203" pitchFamily="34" charset="0"/>
                <a:ea typeface="Mommi"/>
                <a:cs typeface="Microsoft Tai Le" panose="020B0502040204020203" pitchFamily="34" charset="0"/>
                <a:sym typeface="Mommi"/>
              </a:rPr>
              <a:t>0,</a:t>
            </a:r>
            <a:r>
              <a:rPr lang="en-US" sz="3494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     )</a:t>
            </a:r>
          </a:p>
          <a:p>
            <a:pPr marL="754472" lvl="1" indent="-377236" algn="l">
              <a:lnSpc>
                <a:spcPts val="3529"/>
              </a:lnSpc>
              <a:buFont typeface="Arial"/>
              <a:buChar char="•"/>
            </a:pPr>
            <a:r>
              <a:rPr lang="en-US" sz="3494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range : (</a:t>
            </a:r>
            <a:r>
              <a:rPr lang="en-US" sz="3494">
                <a:latin typeface="Mommi"/>
                <a:ea typeface="Mommi"/>
                <a:cs typeface="Mommi"/>
                <a:sym typeface="Mommi"/>
              </a:rPr>
              <a:t>-</a:t>
            </a:r>
            <a:r>
              <a:rPr lang="en-US" sz="3494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              )</a:t>
            </a:r>
          </a:p>
          <a:p>
            <a:pPr marL="754472" lvl="1" indent="-377236" algn="l">
              <a:lnSpc>
                <a:spcPts val="3529"/>
              </a:lnSpc>
              <a:buFont typeface="Arial"/>
              <a:buChar char="•"/>
            </a:pPr>
            <a:r>
              <a:rPr lang="en-US" sz="3494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Asimsot vertikal: x = 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20440" y="6815011"/>
            <a:ext cx="12489063" cy="690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4471" lvl="1" indent="-377236" algn="l">
              <a:lnSpc>
                <a:spcPts val="3529"/>
              </a:lnSpc>
              <a:buFont typeface="Arial"/>
              <a:buChar char="•"/>
            </a:pPr>
            <a:r>
              <a:rPr lang="en-US" sz="3494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contoh grafik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85246" y="7441937"/>
            <a:ext cx="12489063" cy="915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4472" lvl="1" indent="-377236" algn="l">
              <a:lnSpc>
                <a:spcPts val="3529"/>
              </a:lnSpc>
              <a:buFont typeface="Arial"/>
              <a:buChar char="•"/>
            </a:pPr>
            <a:r>
              <a:rPr lang="en-US" sz="3494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         (naik cepat )</a:t>
            </a:r>
          </a:p>
          <a:p>
            <a:pPr marL="754472" lvl="1" indent="-377236" algn="l">
              <a:lnSpc>
                <a:spcPts val="3529"/>
              </a:lnSpc>
              <a:buFont typeface="Arial"/>
              <a:buChar char="•"/>
            </a:pPr>
            <a:r>
              <a:rPr lang="en-US" sz="3494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         (naik lambat )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3800" y="3863954"/>
            <a:ext cx="1327928" cy="669946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5059" y="5143500"/>
            <a:ext cx="656196" cy="348604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8079" y="5600700"/>
            <a:ext cx="1470157" cy="551309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96596" y="7352424"/>
            <a:ext cx="979507" cy="534276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83208" y="7886700"/>
            <a:ext cx="1140164" cy="529361"/>
          </a:xfrm>
          <a:prstGeom prst="rect">
            <a:avLst/>
          </a:prstGeom>
        </p:spPr>
      </p:pic>
      <p:pic>
        <p:nvPicPr>
          <p:cNvPr id="18" name="Picture 13">
            <a:extLst>
              <a:ext uri="{FF2B5EF4-FFF2-40B4-BE49-F238E27FC236}">
                <a16:creationId xmlns:a16="http://schemas.microsoft.com/office/drawing/2014/main" id="{9A2A3FD4-8941-23E1-9CE4-2CDD4A3B1DE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4278273"/>
            <a:ext cx="1327928" cy="6699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054" y="-121890"/>
            <a:ext cx="18744108" cy="10530781"/>
          </a:xfrm>
          <a:custGeom>
            <a:avLst/>
            <a:gdLst/>
            <a:ahLst/>
            <a:cxnLst/>
            <a:rect l="l" t="t" r="r" b="b"/>
            <a:pathLst>
              <a:path w="18744108" h="10530781">
                <a:moveTo>
                  <a:pt x="0" y="0"/>
                </a:moveTo>
                <a:lnTo>
                  <a:pt x="18744108" y="0"/>
                </a:lnTo>
                <a:lnTo>
                  <a:pt x="18744108" y="10530780"/>
                </a:lnTo>
                <a:lnTo>
                  <a:pt x="0" y="10530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45756" y="2286438"/>
            <a:ext cx="14328553" cy="4845656"/>
          </a:xfrm>
          <a:custGeom>
            <a:avLst/>
            <a:gdLst/>
            <a:ahLst/>
            <a:cxnLst/>
            <a:rect l="l" t="t" r="r" b="b"/>
            <a:pathLst>
              <a:path w="14328553" h="4845656">
                <a:moveTo>
                  <a:pt x="0" y="0"/>
                </a:moveTo>
                <a:lnTo>
                  <a:pt x="14328554" y="0"/>
                </a:lnTo>
                <a:lnTo>
                  <a:pt x="14328554" y="4845656"/>
                </a:lnTo>
                <a:lnTo>
                  <a:pt x="0" y="4845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9503" y="1028700"/>
            <a:ext cx="2249797" cy="3197385"/>
          </a:xfrm>
          <a:custGeom>
            <a:avLst/>
            <a:gdLst/>
            <a:ahLst/>
            <a:cxnLst/>
            <a:rect l="l" t="t" r="r" b="b"/>
            <a:pathLst>
              <a:path w="2249797" h="3197385">
                <a:moveTo>
                  <a:pt x="0" y="0"/>
                </a:moveTo>
                <a:lnTo>
                  <a:pt x="2249797" y="0"/>
                </a:lnTo>
                <a:lnTo>
                  <a:pt x="2249797" y="3197385"/>
                </a:lnTo>
                <a:lnTo>
                  <a:pt x="0" y="3197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047885" y="4226085"/>
            <a:ext cx="14328553" cy="4845656"/>
          </a:xfrm>
          <a:custGeom>
            <a:avLst/>
            <a:gdLst/>
            <a:ahLst/>
            <a:cxnLst/>
            <a:rect l="l" t="t" r="r" b="b"/>
            <a:pathLst>
              <a:path w="14328553" h="4845656">
                <a:moveTo>
                  <a:pt x="0" y="0"/>
                </a:moveTo>
                <a:lnTo>
                  <a:pt x="14328553" y="0"/>
                </a:lnTo>
                <a:lnTo>
                  <a:pt x="14328553" y="4845656"/>
                </a:lnTo>
                <a:lnTo>
                  <a:pt x="0" y="4845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34686">
            <a:off x="1688122" y="6141816"/>
            <a:ext cx="1235231" cy="3363253"/>
          </a:xfrm>
          <a:custGeom>
            <a:avLst/>
            <a:gdLst/>
            <a:ahLst/>
            <a:cxnLst/>
            <a:rect l="l" t="t" r="r" b="b"/>
            <a:pathLst>
              <a:path w="1235231" h="3363253">
                <a:moveTo>
                  <a:pt x="0" y="0"/>
                </a:moveTo>
                <a:lnTo>
                  <a:pt x="1235231" y="0"/>
                </a:lnTo>
                <a:lnTo>
                  <a:pt x="1235231" y="3363254"/>
                </a:lnTo>
                <a:lnTo>
                  <a:pt x="0" y="33632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819476" y="1028700"/>
            <a:ext cx="6197216" cy="2095786"/>
          </a:xfrm>
          <a:custGeom>
            <a:avLst/>
            <a:gdLst/>
            <a:ahLst/>
            <a:cxnLst/>
            <a:rect l="l" t="t" r="r" b="b"/>
            <a:pathLst>
              <a:path w="6197216" h="2095786">
                <a:moveTo>
                  <a:pt x="0" y="0"/>
                </a:moveTo>
                <a:lnTo>
                  <a:pt x="6197216" y="0"/>
                </a:lnTo>
                <a:lnTo>
                  <a:pt x="6197216" y="2095786"/>
                </a:lnTo>
                <a:lnTo>
                  <a:pt x="0" y="2095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540039" y="1028700"/>
            <a:ext cx="6197216" cy="2095786"/>
          </a:xfrm>
          <a:custGeom>
            <a:avLst/>
            <a:gdLst/>
            <a:ahLst/>
            <a:cxnLst/>
            <a:rect l="l" t="t" r="r" b="b"/>
            <a:pathLst>
              <a:path w="6197216" h="2095786">
                <a:moveTo>
                  <a:pt x="0" y="0"/>
                </a:moveTo>
                <a:lnTo>
                  <a:pt x="6197216" y="0"/>
                </a:lnTo>
                <a:lnTo>
                  <a:pt x="6197216" y="2095786"/>
                </a:lnTo>
                <a:lnTo>
                  <a:pt x="0" y="2095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99796" y="1261043"/>
            <a:ext cx="11437460" cy="1745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02"/>
              </a:lnSpc>
            </a:pPr>
            <a:r>
              <a:rPr lang="en-US" sz="6636">
                <a:solidFill>
                  <a:srgbClr val="F791AF"/>
                </a:solidFill>
                <a:latin typeface="Sensei"/>
                <a:ea typeface="Sensei"/>
                <a:cs typeface="Sensei"/>
                <a:sym typeface="Sensei"/>
              </a:rPr>
              <a:t>Fungsi logaritma dalam bentuk umum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70893" y="4359435"/>
            <a:ext cx="12489063" cy="690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4471" lvl="1" indent="-377236" algn="l">
              <a:lnSpc>
                <a:spcPts val="3529"/>
              </a:lnSpc>
              <a:buFont typeface="Arial"/>
              <a:buChar char="•"/>
            </a:pPr>
            <a:r>
              <a:rPr lang="en-US" sz="3494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Transformasi :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1484" y="4831064"/>
            <a:ext cx="6286322" cy="1552645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225706" y="6013408"/>
            <a:ext cx="4425990" cy="750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0566" lvl="1" indent="-250283" algn="l">
              <a:lnSpc>
                <a:spcPts val="2341"/>
              </a:lnSpc>
              <a:buFont typeface="Arial"/>
              <a:buChar char="•"/>
            </a:pPr>
            <a:r>
              <a:rPr lang="en-US" sz="2318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h : pergeseran horizontal</a:t>
            </a:r>
          </a:p>
          <a:p>
            <a:pPr marL="500566" lvl="1" indent="-250283" algn="l">
              <a:lnSpc>
                <a:spcPts val="2341"/>
              </a:lnSpc>
              <a:buFont typeface="Arial"/>
              <a:buChar char="•"/>
            </a:pPr>
            <a:r>
              <a:rPr lang="en-US" sz="2318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k : pergeseran vertikal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28043" y="6860280"/>
            <a:ext cx="12489063" cy="690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4471" lvl="1" indent="-377236" algn="l">
              <a:lnSpc>
                <a:spcPts val="3529"/>
              </a:lnSpc>
              <a:buFont typeface="Arial"/>
              <a:buChar char="•"/>
            </a:pPr>
            <a:r>
              <a:rPr lang="en-US" sz="3494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karakteristik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27160" y="7639361"/>
            <a:ext cx="5161940" cy="750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0566" lvl="1" indent="-250283" algn="l">
              <a:lnSpc>
                <a:spcPts val="2341"/>
              </a:lnSpc>
              <a:buFont typeface="Arial"/>
              <a:buChar char="•"/>
            </a:pPr>
            <a:r>
              <a:rPr lang="en-US" sz="2318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Monoton naik jika a &gt; 0</a:t>
            </a:r>
          </a:p>
          <a:p>
            <a:pPr marL="500566" lvl="1" indent="-250283" algn="l">
              <a:lnSpc>
                <a:spcPts val="2341"/>
              </a:lnSpc>
              <a:buFont typeface="Arial"/>
              <a:buChar char="•"/>
            </a:pPr>
            <a:r>
              <a:rPr lang="en-US" sz="2318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monoton tyurun jika 0 &lt; a &lt; 1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2216" y="3246707"/>
            <a:ext cx="4290610" cy="13369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054" y="-121890"/>
            <a:ext cx="18744108" cy="10530781"/>
          </a:xfrm>
          <a:custGeom>
            <a:avLst/>
            <a:gdLst/>
            <a:ahLst/>
            <a:cxnLst/>
            <a:rect l="l" t="t" r="r" b="b"/>
            <a:pathLst>
              <a:path w="18744108" h="10530781">
                <a:moveTo>
                  <a:pt x="0" y="0"/>
                </a:moveTo>
                <a:lnTo>
                  <a:pt x="18744108" y="0"/>
                </a:lnTo>
                <a:lnTo>
                  <a:pt x="18744108" y="10530780"/>
                </a:lnTo>
                <a:lnTo>
                  <a:pt x="0" y="10530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45756" y="2286438"/>
            <a:ext cx="14328553" cy="4845656"/>
          </a:xfrm>
          <a:custGeom>
            <a:avLst/>
            <a:gdLst/>
            <a:ahLst/>
            <a:cxnLst/>
            <a:rect l="l" t="t" r="r" b="b"/>
            <a:pathLst>
              <a:path w="14328553" h="4845656">
                <a:moveTo>
                  <a:pt x="0" y="0"/>
                </a:moveTo>
                <a:lnTo>
                  <a:pt x="14328554" y="0"/>
                </a:lnTo>
                <a:lnTo>
                  <a:pt x="14328554" y="4845656"/>
                </a:lnTo>
                <a:lnTo>
                  <a:pt x="0" y="4845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79723" y="4155674"/>
            <a:ext cx="14328553" cy="4845656"/>
          </a:xfrm>
          <a:custGeom>
            <a:avLst/>
            <a:gdLst/>
            <a:ahLst/>
            <a:cxnLst/>
            <a:rect l="l" t="t" r="r" b="b"/>
            <a:pathLst>
              <a:path w="14328553" h="4845656">
                <a:moveTo>
                  <a:pt x="0" y="0"/>
                </a:moveTo>
                <a:lnTo>
                  <a:pt x="14328553" y="0"/>
                </a:lnTo>
                <a:lnTo>
                  <a:pt x="14328553" y="4845656"/>
                </a:lnTo>
                <a:lnTo>
                  <a:pt x="0" y="4845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986530">
            <a:off x="13480482" y="1235153"/>
            <a:ext cx="3457197" cy="2772044"/>
          </a:xfrm>
          <a:custGeom>
            <a:avLst/>
            <a:gdLst/>
            <a:ahLst/>
            <a:cxnLst/>
            <a:rect l="l" t="t" r="r" b="b"/>
            <a:pathLst>
              <a:path w="3457197" h="2772044">
                <a:moveTo>
                  <a:pt x="0" y="0"/>
                </a:moveTo>
                <a:lnTo>
                  <a:pt x="3457198" y="0"/>
                </a:lnTo>
                <a:lnTo>
                  <a:pt x="3457198" y="2772044"/>
                </a:lnTo>
                <a:lnTo>
                  <a:pt x="0" y="2772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20482">
            <a:off x="975106" y="6790332"/>
            <a:ext cx="2569158" cy="2974815"/>
          </a:xfrm>
          <a:custGeom>
            <a:avLst/>
            <a:gdLst/>
            <a:ahLst/>
            <a:cxnLst/>
            <a:rect l="l" t="t" r="r" b="b"/>
            <a:pathLst>
              <a:path w="2569158" h="2974815">
                <a:moveTo>
                  <a:pt x="0" y="0"/>
                </a:moveTo>
                <a:lnTo>
                  <a:pt x="2569159" y="0"/>
                </a:lnTo>
                <a:lnTo>
                  <a:pt x="2569159" y="2974814"/>
                </a:lnTo>
                <a:lnTo>
                  <a:pt x="0" y="29748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09800" y="3822624"/>
            <a:ext cx="15190115" cy="4637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4418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Beberapa penggunaan logaritma:</a:t>
            </a:r>
          </a:p>
          <a:p>
            <a:pPr marL="953994" lvl="1" indent="-476997" algn="l">
              <a:lnSpc>
                <a:spcPts val="4462"/>
              </a:lnSpc>
              <a:buFont typeface="Arial"/>
              <a:buChar char="•"/>
            </a:pPr>
            <a:r>
              <a:rPr lang="en-US" sz="4418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Menyederhanakan perhitungan eksponensial.</a:t>
            </a:r>
          </a:p>
          <a:p>
            <a:pPr marL="953994" lvl="1" indent="-476997" algn="l">
              <a:lnSpc>
                <a:spcPts val="4462"/>
              </a:lnSpc>
              <a:buFont typeface="Arial"/>
              <a:buChar char="•"/>
            </a:pPr>
            <a:r>
              <a:rPr lang="en-US" sz="4418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Memecahkan persamaan eksponensial.</a:t>
            </a:r>
          </a:p>
          <a:p>
            <a:pPr marL="953994" lvl="1" indent="-476997" algn="l">
              <a:lnSpc>
                <a:spcPts val="4462"/>
              </a:lnSpc>
              <a:buFont typeface="Arial"/>
              <a:buChar char="•"/>
            </a:pPr>
            <a:r>
              <a:rPr lang="en-US" sz="4418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Mengukur tingkat pertumbuhan (logaritma natural).</a:t>
            </a:r>
          </a:p>
          <a:p>
            <a:pPr marL="953994" lvl="1" indent="-476997" algn="l">
              <a:lnSpc>
                <a:spcPts val="4462"/>
              </a:lnSpc>
              <a:buFont typeface="Arial"/>
              <a:buChar char="•"/>
            </a:pPr>
            <a:r>
              <a:rPr lang="en-US" sz="4418">
                <a:solidFill>
                  <a:srgbClr val="FEFEFE"/>
                </a:solidFill>
                <a:latin typeface="Mommi"/>
                <a:ea typeface="Mommi"/>
                <a:cs typeface="Mommi"/>
                <a:sym typeface="Mommi"/>
              </a:rPr>
              <a:t>Digunakan pada skala logaritmik: Richter, pH, desibel, dan lain-lain.</a:t>
            </a:r>
          </a:p>
          <a:p>
            <a:pPr algn="l">
              <a:lnSpc>
                <a:spcPts val="4462"/>
              </a:lnSpc>
            </a:pPr>
            <a:endParaRPr lang="en-US" sz="4418">
              <a:solidFill>
                <a:srgbClr val="FEFEFE"/>
              </a:solidFill>
              <a:latin typeface="Mommi"/>
              <a:ea typeface="Mommi"/>
              <a:cs typeface="Mommi"/>
              <a:sym typeface="Mommi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757306" y="1381587"/>
            <a:ext cx="6197216" cy="2095786"/>
          </a:xfrm>
          <a:custGeom>
            <a:avLst/>
            <a:gdLst/>
            <a:ahLst/>
            <a:cxnLst/>
            <a:rect l="l" t="t" r="r" b="b"/>
            <a:pathLst>
              <a:path w="6197216" h="2095786">
                <a:moveTo>
                  <a:pt x="0" y="0"/>
                </a:moveTo>
                <a:lnTo>
                  <a:pt x="6197216" y="0"/>
                </a:lnTo>
                <a:lnTo>
                  <a:pt x="6197216" y="2095786"/>
                </a:lnTo>
                <a:lnTo>
                  <a:pt x="0" y="2095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5824740" y="1364204"/>
            <a:ext cx="6197216" cy="2095786"/>
          </a:xfrm>
          <a:custGeom>
            <a:avLst/>
            <a:gdLst/>
            <a:ahLst/>
            <a:cxnLst/>
            <a:rect l="l" t="t" r="r" b="b"/>
            <a:pathLst>
              <a:path w="6197216" h="2095786">
                <a:moveTo>
                  <a:pt x="0" y="0"/>
                </a:moveTo>
                <a:lnTo>
                  <a:pt x="6197217" y="0"/>
                </a:lnTo>
                <a:lnTo>
                  <a:pt x="6197217" y="2095786"/>
                </a:lnTo>
                <a:lnTo>
                  <a:pt x="0" y="2095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21505" y="1785974"/>
            <a:ext cx="10742129" cy="1691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7"/>
              </a:lnSpc>
            </a:pPr>
            <a:r>
              <a:rPr lang="en-US" sz="6443">
                <a:solidFill>
                  <a:srgbClr val="F791AF"/>
                </a:solidFill>
                <a:latin typeface="Sensei"/>
                <a:ea typeface="Sensei"/>
                <a:cs typeface="Sensei"/>
                <a:sym typeface="Sensei"/>
              </a:rPr>
              <a:t>Aplikasi Logaritma dalam Matematika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054" y="-121890"/>
            <a:ext cx="18744108" cy="10530781"/>
          </a:xfrm>
          <a:custGeom>
            <a:avLst/>
            <a:gdLst/>
            <a:ahLst/>
            <a:cxnLst/>
            <a:rect l="l" t="t" r="r" b="b"/>
            <a:pathLst>
              <a:path w="18744108" h="10530781">
                <a:moveTo>
                  <a:pt x="0" y="0"/>
                </a:moveTo>
                <a:lnTo>
                  <a:pt x="18744108" y="0"/>
                </a:lnTo>
                <a:lnTo>
                  <a:pt x="18744108" y="10530780"/>
                </a:lnTo>
                <a:lnTo>
                  <a:pt x="0" y="10530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42093" y="6304702"/>
            <a:ext cx="2802090" cy="3982298"/>
          </a:xfrm>
          <a:custGeom>
            <a:avLst/>
            <a:gdLst/>
            <a:ahLst/>
            <a:cxnLst/>
            <a:rect l="l" t="t" r="r" b="b"/>
            <a:pathLst>
              <a:path w="2802090" h="3982298">
                <a:moveTo>
                  <a:pt x="0" y="0"/>
                </a:moveTo>
                <a:lnTo>
                  <a:pt x="2802090" y="0"/>
                </a:lnTo>
                <a:lnTo>
                  <a:pt x="2802090" y="3982298"/>
                </a:lnTo>
                <a:lnTo>
                  <a:pt x="0" y="39822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09147" y="3981703"/>
            <a:ext cx="6857587" cy="5478713"/>
            <a:chOff x="0" y="0"/>
            <a:chExt cx="1806113" cy="15118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06113" cy="1511847"/>
            </a:xfrm>
            <a:custGeom>
              <a:avLst/>
              <a:gdLst/>
              <a:ahLst/>
              <a:cxnLst/>
              <a:rect l="l" t="t" r="r" b="b"/>
              <a:pathLst>
                <a:path w="1806113" h="1511847">
                  <a:moveTo>
                    <a:pt x="57577" y="0"/>
                  </a:moveTo>
                  <a:lnTo>
                    <a:pt x="1748537" y="0"/>
                  </a:lnTo>
                  <a:cubicBezTo>
                    <a:pt x="1780335" y="0"/>
                    <a:pt x="1806113" y="25778"/>
                    <a:pt x="1806113" y="57577"/>
                  </a:cubicBezTo>
                  <a:lnTo>
                    <a:pt x="1806113" y="1454270"/>
                  </a:lnTo>
                  <a:cubicBezTo>
                    <a:pt x="1806113" y="1486069"/>
                    <a:pt x="1780335" y="1511847"/>
                    <a:pt x="1748537" y="1511847"/>
                  </a:cubicBezTo>
                  <a:lnTo>
                    <a:pt x="57577" y="1511847"/>
                  </a:lnTo>
                  <a:cubicBezTo>
                    <a:pt x="25778" y="1511847"/>
                    <a:pt x="0" y="1486069"/>
                    <a:pt x="0" y="1454270"/>
                  </a:cubicBezTo>
                  <a:lnTo>
                    <a:pt x="0" y="57577"/>
                  </a:lnTo>
                  <a:cubicBezTo>
                    <a:pt x="0" y="25778"/>
                    <a:pt x="25778" y="0"/>
                    <a:pt x="57577" y="0"/>
                  </a:cubicBezTo>
                  <a:close/>
                </a:path>
              </a:pathLst>
            </a:custGeom>
            <a:solidFill>
              <a:srgbClr val="F791A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806113" cy="1549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967444" y="4233228"/>
            <a:ext cx="6268234" cy="4796472"/>
            <a:chOff x="0" y="0"/>
            <a:chExt cx="1650893" cy="137670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50893" cy="1376708"/>
            </a:xfrm>
            <a:custGeom>
              <a:avLst/>
              <a:gdLst/>
              <a:ahLst/>
              <a:cxnLst/>
              <a:rect l="l" t="t" r="r" b="b"/>
              <a:pathLst>
                <a:path w="1650893" h="1376708">
                  <a:moveTo>
                    <a:pt x="62990" y="0"/>
                  </a:moveTo>
                  <a:lnTo>
                    <a:pt x="1587903" y="0"/>
                  </a:lnTo>
                  <a:cubicBezTo>
                    <a:pt x="1604609" y="0"/>
                    <a:pt x="1620631" y="6636"/>
                    <a:pt x="1632444" y="18449"/>
                  </a:cubicBezTo>
                  <a:cubicBezTo>
                    <a:pt x="1644257" y="30262"/>
                    <a:pt x="1650893" y="46284"/>
                    <a:pt x="1650893" y="62990"/>
                  </a:cubicBezTo>
                  <a:lnTo>
                    <a:pt x="1650893" y="1313718"/>
                  </a:lnTo>
                  <a:cubicBezTo>
                    <a:pt x="1650893" y="1348506"/>
                    <a:pt x="1622691" y="1376708"/>
                    <a:pt x="1587903" y="1376708"/>
                  </a:cubicBezTo>
                  <a:lnTo>
                    <a:pt x="62990" y="1376708"/>
                  </a:lnTo>
                  <a:cubicBezTo>
                    <a:pt x="46284" y="1376708"/>
                    <a:pt x="30262" y="1370072"/>
                    <a:pt x="18449" y="1358258"/>
                  </a:cubicBezTo>
                  <a:cubicBezTo>
                    <a:pt x="6636" y="1346446"/>
                    <a:pt x="0" y="1330424"/>
                    <a:pt x="0" y="1313718"/>
                  </a:cubicBezTo>
                  <a:lnTo>
                    <a:pt x="0" y="62990"/>
                  </a:lnTo>
                  <a:cubicBezTo>
                    <a:pt x="0" y="28202"/>
                    <a:pt x="28202" y="0"/>
                    <a:pt x="62990" y="0"/>
                  </a:cubicBezTo>
                  <a:close/>
                </a:path>
              </a:pathLst>
            </a:custGeom>
            <a:solidFill>
              <a:srgbClr val="FDFEFD"/>
            </a:solidFill>
            <a:ln w="38100" cap="rnd">
              <a:solidFill>
                <a:srgbClr val="FFDAE5"/>
              </a:solidFill>
              <a:prstDash val="dash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50893" cy="1414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697715">
            <a:off x="508516" y="1137966"/>
            <a:ext cx="1500065" cy="4084336"/>
          </a:xfrm>
          <a:custGeom>
            <a:avLst/>
            <a:gdLst/>
            <a:ahLst/>
            <a:cxnLst/>
            <a:rect l="l" t="t" r="r" b="b"/>
            <a:pathLst>
              <a:path w="1500065" h="4084336">
                <a:moveTo>
                  <a:pt x="0" y="0"/>
                </a:moveTo>
                <a:lnTo>
                  <a:pt x="1500065" y="0"/>
                </a:lnTo>
                <a:lnTo>
                  <a:pt x="1500065" y="4084335"/>
                </a:lnTo>
                <a:lnTo>
                  <a:pt x="0" y="40843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619905" y="955071"/>
            <a:ext cx="12669819" cy="16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91"/>
              </a:lnSpc>
            </a:pPr>
            <a:r>
              <a:rPr lang="en-US" sz="12367">
                <a:solidFill>
                  <a:srgbClr val="F791AF"/>
                </a:solidFill>
                <a:latin typeface="Sensei"/>
                <a:ea typeface="Sensei"/>
                <a:cs typeface="Sensei"/>
                <a:sym typeface="Sensei"/>
              </a:rPr>
              <a:t>contoh soal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00794" y="4594510"/>
            <a:ext cx="2865140" cy="53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7"/>
              </a:lnSpc>
            </a:pPr>
            <a:r>
              <a:rPr lang="en-US" sz="2690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hitung 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00794" y="6722997"/>
            <a:ext cx="3103862" cy="53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7"/>
              </a:lnSpc>
            </a:pPr>
            <a:r>
              <a:rPr lang="en-US" sz="2690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penyelesaian :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00919" y="3981702"/>
            <a:ext cx="6857587" cy="5350227"/>
            <a:chOff x="0" y="0"/>
            <a:chExt cx="1806113" cy="151184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06113" cy="1511847"/>
            </a:xfrm>
            <a:custGeom>
              <a:avLst/>
              <a:gdLst/>
              <a:ahLst/>
              <a:cxnLst/>
              <a:rect l="l" t="t" r="r" b="b"/>
              <a:pathLst>
                <a:path w="1806113" h="1511847">
                  <a:moveTo>
                    <a:pt x="57577" y="0"/>
                  </a:moveTo>
                  <a:lnTo>
                    <a:pt x="1748537" y="0"/>
                  </a:lnTo>
                  <a:cubicBezTo>
                    <a:pt x="1780335" y="0"/>
                    <a:pt x="1806113" y="25778"/>
                    <a:pt x="1806113" y="57577"/>
                  </a:cubicBezTo>
                  <a:lnTo>
                    <a:pt x="1806113" y="1454270"/>
                  </a:lnTo>
                  <a:cubicBezTo>
                    <a:pt x="1806113" y="1486069"/>
                    <a:pt x="1780335" y="1511847"/>
                    <a:pt x="1748537" y="1511847"/>
                  </a:cubicBezTo>
                  <a:lnTo>
                    <a:pt x="57577" y="1511847"/>
                  </a:lnTo>
                  <a:cubicBezTo>
                    <a:pt x="25778" y="1511847"/>
                    <a:pt x="0" y="1486069"/>
                    <a:pt x="0" y="1454270"/>
                  </a:cubicBezTo>
                  <a:lnTo>
                    <a:pt x="0" y="57577"/>
                  </a:lnTo>
                  <a:cubicBezTo>
                    <a:pt x="0" y="25778"/>
                    <a:pt x="25778" y="0"/>
                    <a:pt x="57577" y="0"/>
                  </a:cubicBezTo>
                  <a:close/>
                </a:path>
              </a:pathLst>
            </a:custGeom>
            <a:solidFill>
              <a:srgbClr val="F791A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806113" cy="1549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59216" y="4233228"/>
            <a:ext cx="6268234" cy="4796472"/>
            <a:chOff x="0" y="0"/>
            <a:chExt cx="1650893" cy="13767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50893" cy="1376708"/>
            </a:xfrm>
            <a:custGeom>
              <a:avLst/>
              <a:gdLst/>
              <a:ahLst/>
              <a:cxnLst/>
              <a:rect l="l" t="t" r="r" b="b"/>
              <a:pathLst>
                <a:path w="1650893" h="1376708">
                  <a:moveTo>
                    <a:pt x="62990" y="0"/>
                  </a:moveTo>
                  <a:lnTo>
                    <a:pt x="1587903" y="0"/>
                  </a:lnTo>
                  <a:cubicBezTo>
                    <a:pt x="1604609" y="0"/>
                    <a:pt x="1620631" y="6636"/>
                    <a:pt x="1632444" y="18449"/>
                  </a:cubicBezTo>
                  <a:cubicBezTo>
                    <a:pt x="1644257" y="30262"/>
                    <a:pt x="1650893" y="46284"/>
                    <a:pt x="1650893" y="62990"/>
                  </a:cubicBezTo>
                  <a:lnTo>
                    <a:pt x="1650893" y="1313718"/>
                  </a:lnTo>
                  <a:cubicBezTo>
                    <a:pt x="1650893" y="1348506"/>
                    <a:pt x="1622691" y="1376708"/>
                    <a:pt x="1587903" y="1376708"/>
                  </a:cubicBezTo>
                  <a:lnTo>
                    <a:pt x="62990" y="1376708"/>
                  </a:lnTo>
                  <a:cubicBezTo>
                    <a:pt x="46284" y="1376708"/>
                    <a:pt x="30262" y="1370072"/>
                    <a:pt x="18449" y="1358258"/>
                  </a:cubicBezTo>
                  <a:cubicBezTo>
                    <a:pt x="6636" y="1346446"/>
                    <a:pt x="0" y="1330424"/>
                    <a:pt x="0" y="1313718"/>
                  </a:cubicBezTo>
                  <a:lnTo>
                    <a:pt x="0" y="62990"/>
                  </a:lnTo>
                  <a:cubicBezTo>
                    <a:pt x="0" y="28202"/>
                    <a:pt x="28202" y="0"/>
                    <a:pt x="62990" y="0"/>
                  </a:cubicBezTo>
                  <a:close/>
                </a:path>
              </a:pathLst>
            </a:custGeom>
            <a:solidFill>
              <a:srgbClr val="FDFEFD"/>
            </a:solidFill>
            <a:ln w="38100" cap="rnd">
              <a:solidFill>
                <a:srgbClr val="FFDAE5"/>
              </a:solidFill>
              <a:prstDash val="dash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650893" cy="1414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728193" y="4594510"/>
            <a:ext cx="3697779" cy="53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7"/>
              </a:lnSpc>
            </a:pPr>
            <a:r>
              <a:rPr lang="en-US" sz="2690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sifat perpangkatan 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94599" y="6518811"/>
            <a:ext cx="3697779" cy="53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7"/>
              </a:lnSpc>
            </a:pPr>
            <a:r>
              <a:rPr lang="en-US" sz="2690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perubahan basis :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6021" y="5276050"/>
            <a:ext cx="1466370" cy="660977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6292" y="7021684"/>
            <a:ext cx="5316726" cy="1414273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9259" y="4984221"/>
            <a:ext cx="4168148" cy="1177955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42843" y="7137732"/>
            <a:ext cx="2810868" cy="1182175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2100794" y="3169720"/>
            <a:ext cx="5794429" cy="764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2"/>
              </a:lnSpc>
            </a:pPr>
            <a:r>
              <a:rPr lang="en-US" sz="5656">
                <a:solidFill>
                  <a:srgbClr val="F791AF"/>
                </a:solidFill>
                <a:latin typeface="Sensei"/>
                <a:ea typeface="Sensei"/>
                <a:cs typeface="Sensei"/>
                <a:sym typeface="Sensei"/>
              </a:rPr>
              <a:t>soal 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94599" y="3217345"/>
            <a:ext cx="5794429" cy="764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2"/>
              </a:lnSpc>
            </a:pPr>
            <a:r>
              <a:rPr lang="en-US" sz="5656">
                <a:solidFill>
                  <a:srgbClr val="F791AF"/>
                </a:solidFill>
                <a:latin typeface="Sensei"/>
                <a:ea typeface="Sensei"/>
                <a:cs typeface="Sensei"/>
                <a:sym typeface="Sensei"/>
              </a:rPr>
              <a:t>soal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2118" y="-758634"/>
            <a:ext cx="18744108" cy="10530781"/>
          </a:xfrm>
          <a:custGeom>
            <a:avLst/>
            <a:gdLst/>
            <a:ahLst/>
            <a:cxnLst/>
            <a:rect l="l" t="t" r="r" b="b"/>
            <a:pathLst>
              <a:path w="18744108" h="10530781">
                <a:moveTo>
                  <a:pt x="0" y="0"/>
                </a:moveTo>
                <a:lnTo>
                  <a:pt x="18744107" y="0"/>
                </a:lnTo>
                <a:lnTo>
                  <a:pt x="18744107" y="10530781"/>
                </a:lnTo>
                <a:lnTo>
                  <a:pt x="0" y="105307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78029" y="5667959"/>
            <a:ext cx="2802090" cy="3982298"/>
          </a:xfrm>
          <a:custGeom>
            <a:avLst/>
            <a:gdLst/>
            <a:ahLst/>
            <a:cxnLst/>
            <a:rect l="l" t="t" r="r" b="b"/>
            <a:pathLst>
              <a:path w="2802090" h="3982298">
                <a:moveTo>
                  <a:pt x="0" y="0"/>
                </a:moveTo>
                <a:lnTo>
                  <a:pt x="2802089" y="0"/>
                </a:lnTo>
                <a:lnTo>
                  <a:pt x="2802089" y="3982297"/>
                </a:lnTo>
                <a:lnTo>
                  <a:pt x="0" y="3982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020717" y="2619017"/>
            <a:ext cx="11591756" cy="6526997"/>
            <a:chOff x="0" y="0"/>
            <a:chExt cx="2999164" cy="16887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99164" cy="1688746"/>
            </a:xfrm>
            <a:custGeom>
              <a:avLst/>
              <a:gdLst/>
              <a:ahLst/>
              <a:cxnLst/>
              <a:rect l="l" t="t" r="r" b="b"/>
              <a:pathLst>
                <a:path w="2999164" h="1688746">
                  <a:moveTo>
                    <a:pt x="34062" y="0"/>
                  </a:moveTo>
                  <a:lnTo>
                    <a:pt x="2965102" y="0"/>
                  </a:lnTo>
                  <a:cubicBezTo>
                    <a:pt x="2983914" y="0"/>
                    <a:pt x="2999164" y="15250"/>
                    <a:pt x="2999164" y="34062"/>
                  </a:cubicBezTo>
                  <a:lnTo>
                    <a:pt x="2999164" y="1654684"/>
                  </a:lnTo>
                  <a:cubicBezTo>
                    <a:pt x="2999164" y="1673496"/>
                    <a:pt x="2983914" y="1688746"/>
                    <a:pt x="2965102" y="1688746"/>
                  </a:cubicBezTo>
                  <a:lnTo>
                    <a:pt x="34062" y="1688746"/>
                  </a:lnTo>
                  <a:cubicBezTo>
                    <a:pt x="15250" y="1688746"/>
                    <a:pt x="0" y="1673496"/>
                    <a:pt x="0" y="1654684"/>
                  </a:cubicBezTo>
                  <a:lnTo>
                    <a:pt x="0" y="34062"/>
                  </a:lnTo>
                  <a:cubicBezTo>
                    <a:pt x="0" y="15250"/>
                    <a:pt x="15250" y="0"/>
                    <a:pt x="34062" y="0"/>
                  </a:cubicBezTo>
                  <a:close/>
                </a:path>
              </a:pathLst>
            </a:custGeom>
            <a:solidFill>
              <a:srgbClr val="F791A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99164" cy="1726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532670" y="2958798"/>
            <a:ext cx="10545962" cy="5805300"/>
            <a:chOff x="0" y="0"/>
            <a:chExt cx="2728583" cy="15020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28583" cy="1502020"/>
            </a:xfrm>
            <a:custGeom>
              <a:avLst/>
              <a:gdLst/>
              <a:ahLst/>
              <a:cxnLst/>
              <a:rect l="l" t="t" r="r" b="b"/>
              <a:pathLst>
                <a:path w="2728583" h="1502020">
                  <a:moveTo>
                    <a:pt x="37440" y="0"/>
                  </a:moveTo>
                  <a:lnTo>
                    <a:pt x="2691143" y="0"/>
                  </a:lnTo>
                  <a:cubicBezTo>
                    <a:pt x="2711821" y="0"/>
                    <a:pt x="2728583" y="16762"/>
                    <a:pt x="2728583" y="37440"/>
                  </a:cubicBezTo>
                  <a:lnTo>
                    <a:pt x="2728583" y="1464580"/>
                  </a:lnTo>
                  <a:cubicBezTo>
                    <a:pt x="2728583" y="1485258"/>
                    <a:pt x="2711821" y="1502020"/>
                    <a:pt x="2691143" y="1502020"/>
                  </a:cubicBezTo>
                  <a:lnTo>
                    <a:pt x="37440" y="1502020"/>
                  </a:lnTo>
                  <a:cubicBezTo>
                    <a:pt x="16762" y="1502020"/>
                    <a:pt x="0" y="1485258"/>
                    <a:pt x="0" y="1464580"/>
                  </a:cubicBezTo>
                  <a:lnTo>
                    <a:pt x="0" y="37440"/>
                  </a:lnTo>
                  <a:cubicBezTo>
                    <a:pt x="0" y="16762"/>
                    <a:pt x="16762" y="0"/>
                    <a:pt x="37440" y="0"/>
                  </a:cubicBezTo>
                  <a:close/>
                </a:path>
              </a:pathLst>
            </a:custGeom>
            <a:solidFill>
              <a:srgbClr val="FDFEFD"/>
            </a:solidFill>
            <a:ln w="38100" cap="rnd">
              <a:solidFill>
                <a:srgbClr val="FFDAE5"/>
              </a:solidFill>
              <a:prstDash val="dash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28583" cy="1540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697715">
            <a:off x="244452" y="501222"/>
            <a:ext cx="1500065" cy="4084336"/>
          </a:xfrm>
          <a:custGeom>
            <a:avLst/>
            <a:gdLst/>
            <a:ahLst/>
            <a:cxnLst/>
            <a:rect l="l" t="t" r="r" b="b"/>
            <a:pathLst>
              <a:path w="1500065" h="4084336">
                <a:moveTo>
                  <a:pt x="0" y="0"/>
                </a:moveTo>
                <a:lnTo>
                  <a:pt x="1500065" y="0"/>
                </a:lnTo>
                <a:lnTo>
                  <a:pt x="1500065" y="4084336"/>
                </a:lnTo>
                <a:lnTo>
                  <a:pt x="0" y="40843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38600" y="3626451"/>
            <a:ext cx="9649602" cy="4641249"/>
          </a:xfrm>
          <a:custGeom>
            <a:avLst/>
            <a:gdLst/>
            <a:ahLst/>
            <a:cxnLst/>
            <a:rect l="l" t="t" r="r" b="b"/>
            <a:pathLst>
              <a:path w="9649602" h="4641249">
                <a:moveTo>
                  <a:pt x="0" y="0"/>
                </a:moveTo>
                <a:lnTo>
                  <a:pt x="9649602" y="0"/>
                </a:lnTo>
                <a:lnTo>
                  <a:pt x="9649602" y="4641248"/>
                </a:lnTo>
                <a:lnTo>
                  <a:pt x="0" y="46412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286000" y="862253"/>
            <a:ext cx="12669819" cy="16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91"/>
              </a:lnSpc>
            </a:pPr>
            <a:r>
              <a:rPr lang="en-US" sz="12367">
                <a:solidFill>
                  <a:srgbClr val="F791AF"/>
                </a:solidFill>
                <a:latin typeface="Sensei"/>
                <a:ea typeface="Sensei"/>
                <a:cs typeface="Sensei"/>
                <a:sym typeface="Sensei"/>
              </a:rPr>
              <a:t>LATIHAN SOAL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054" y="-121890"/>
            <a:ext cx="18744108" cy="10530781"/>
          </a:xfrm>
          <a:custGeom>
            <a:avLst/>
            <a:gdLst/>
            <a:ahLst/>
            <a:cxnLst/>
            <a:rect l="l" t="t" r="r" b="b"/>
            <a:pathLst>
              <a:path w="18744108" h="10530781">
                <a:moveTo>
                  <a:pt x="0" y="0"/>
                </a:moveTo>
                <a:lnTo>
                  <a:pt x="18744108" y="0"/>
                </a:lnTo>
                <a:lnTo>
                  <a:pt x="18744108" y="10530780"/>
                </a:lnTo>
                <a:lnTo>
                  <a:pt x="0" y="10530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828167" y="1382885"/>
            <a:ext cx="9108813" cy="9026005"/>
          </a:xfrm>
          <a:custGeom>
            <a:avLst/>
            <a:gdLst/>
            <a:ahLst/>
            <a:cxnLst/>
            <a:rect l="l" t="t" r="r" b="b"/>
            <a:pathLst>
              <a:path w="9108813" h="9026005">
                <a:moveTo>
                  <a:pt x="0" y="0"/>
                </a:moveTo>
                <a:lnTo>
                  <a:pt x="9108813" y="0"/>
                </a:lnTo>
                <a:lnTo>
                  <a:pt x="9108813" y="9026005"/>
                </a:lnTo>
                <a:lnTo>
                  <a:pt x="0" y="9026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243645" y="1178178"/>
            <a:ext cx="8965218" cy="8883716"/>
          </a:xfrm>
          <a:custGeom>
            <a:avLst/>
            <a:gdLst/>
            <a:ahLst/>
            <a:cxnLst/>
            <a:rect l="l" t="t" r="r" b="b"/>
            <a:pathLst>
              <a:path w="8965218" h="8883716">
                <a:moveTo>
                  <a:pt x="0" y="0"/>
                </a:moveTo>
                <a:lnTo>
                  <a:pt x="8965218" y="0"/>
                </a:lnTo>
                <a:lnTo>
                  <a:pt x="8965218" y="8883717"/>
                </a:lnTo>
                <a:lnTo>
                  <a:pt x="0" y="8883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177806" y="2338324"/>
            <a:ext cx="10507211" cy="1663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91"/>
              </a:lnSpc>
            </a:pPr>
            <a:r>
              <a:rPr lang="en-US" sz="12367">
                <a:solidFill>
                  <a:srgbClr val="F791AF"/>
                </a:solidFill>
                <a:latin typeface="Sensei"/>
                <a:ea typeface="Sensei"/>
                <a:cs typeface="Sensei"/>
                <a:sym typeface="Sensei"/>
              </a:rPr>
              <a:t>Kesimpulan</a:t>
            </a:r>
          </a:p>
        </p:txBody>
      </p:sp>
      <p:sp>
        <p:nvSpPr>
          <p:cNvPr id="6" name="Freeform 6"/>
          <p:cNvSpPr/>
          <p:nvPr/>
        </p:nvSpPr>
        <p:spPr>
          <a:xfrm>
            <a:off x="13435862" y="701823"/>
            <a:ext cx="2773001" cy="2834853"/>
          </a:xfrm>
          <a:custGeom>
            <a:avLst/>
            <a:gdLst/>
            <a:ahLst/>
            <a:cxnLst/>
            <a:rect l="l" t="t" r="r" b="b"/>
            <a:pathLst>
              <a:path w="2773001" h="2834853">
                <a:moveTo>
                  <a:pt x="0" y="0"/>
                </a:moveTo>
                <a:lnTo>
                  <a:pt x="2773001" y="0"/>
                </a:lnTo>
                <a:lnTo>
                  <a:pt x="2773001" y="2834852"/>
                </a:lnTo>
                <a:lnTo>
                  <a:pt x="0" y="28348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888943">
            <a:off x="1773609" y="6379338"/>
            <a:ext cx="2298318" cy="3216476"/>
          </a:xfrm>
          <a:custGeom>
            <a:avLst/>
            <a:gdLst/>
            <a:ahLst/>
            <a:cxnLst/>
            <a:rect l="l" t="t" r="r" b="b"/>
            <a:pathLst>
              <a:path w="2298318" h="3216476">
                <a:moveTo>
                  <a:pt x="0" y="0"/>
                </a:moveTo>
                <a:lnTo>
                  <a:pt x="2298318" y="0"/>
                </a:lnTo>
                <a:lnTo>
                  <a:pt x="2298318" y="3216476"/>
                </a:lnTo>
                <a:lnTo>
                  <a:pt x="0" y="3216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429877" y="4167507"/>
            <a:ext cx="11428247" cy="4451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5092" lvl="1" indent="-397546" algn="l">
              <a:lnSpc>
                <a:spcPts val="3719"/>
              </a:lnSpc>
              <a:buFont typeface="Arial"/>
              <a:buChar char="•"/>
            </a:pPr>
            <a:r>
              <a:rPr lang="en-US" sz="3682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Logaritma merupakan invers dari eksponen.</a:t>
            </a:r>
          </a:p>
          <a:p>
            <a:pPr marL="795092" lvl="1" indent="-397546" algn="l">
              <a:lnSpc>
                <a:spcPts val="3719"/>
              </a:lnSpc>
              <a:buFont typeface="Arial"/>
              <a:buChar char="•"/>
            </a:pPr>
            <a:r>
              <a:rPr lang="en-US" sz="3682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Memiliki sifat-sifat penting yang membantu menyederhanakan perhitungan.</a:t>
            </a:r>
          </a:p>
          <a:p>
            <a:pPr marL="795092" lvl="1" indent="-397546" algn="l">
              <a:lnSpc>
                <a:spcPts val="3719"/>
              </a:lnSpc>
              <a:buFont typeface="Arial"/>
              <a:buChar char="•"/>
            </a:pPr>
            <a:r>
              <a:rPr lang="en-US" sz="3682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Grafik fungsi logaritma berbentuk kurva meningkat dengan asimtot di x=0x = 0x=0.</a:t>
            </a:r>
          </a:p>
          <a:p>
            <a:pPr marL="795092" lvl="1" indent="-397546" algn="l">
              <a:lnSpc>
                <a:spcPts val="3719"/>
              </a:lnSpc>
              <a:buFont typeface="Arial"/>
              <a:buChar char="•"/>
            </a:pPr>
            <a:r>
              <a:rPr lang="en-US" sz="3682">
                <a:solidFill>
                  <a:srgbClr val="F791AF"/>
                </a:solidFill>
                <a:latin typeface="Mommi"/>
                <a:ea typeface="Mommi"/>
                <a:cs typeface="Mommi"/>
                <a:sym typeface="Mommi"/>
              </a:rPr>
              <a:t>Aplikasinya sangat luas, terutama pada algoritma, machine learning, dan pengolahan data di bidang Teknik Informatika.</a:t>
            </a:r>
          </a:p>
          <a:p>
            <a:pPr algn="l">
              <a:lnSpc>
                <a:spcPts val="3719"/>
              </a:lnSpc>
            </a:pPr>
            <a:endParaRPr lang="en-US" sz="3682">
              <a:solidFill>
                <a:srgbClr val="F791AF"/>
              </a:solidFill>
              <a:latin typeface="Mommi"/>
              <a:ea typeface="Mommi"/>
              <a:cs typeface="Mommi"/>
              <a:sym typeface="Momm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054" y="-121890"/>
            <a:ext cx="18744108" cy="10530781"/>
          </a:xfrm>
          <a:custGeom>
            <a:avLst/>
            <a:gdLst/>
            <a:ahLst/>
            <a:cxnLst/>
            <a:rect l="l" t="t" r="r" b="b"/>
            <a:pathLst>
              <a:path w="18744108" h="10530781">
                <a:moveTo>
                  <a:pt x="0" y="0"/>
                </a:moveTo>
                <a:lnTo>
                  <a:pt x="18744108" y="0"/>
                </a:lnTo>
                <a:lnTo>
                  <a:pt x="18744108" y="10530780"/>
                </a:lnTo>
                <a:lnTo>
                  <a:pt x="0" y="10530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68812" y="1317335"/>
            <a:ext cx="12550376" cy="7940965"/>
          </a:xfrm>
          <a:custGeom>
            <a:avLst/>
            <a:gdLst/>
            <a:ahLst/>
            <a:cxnLst/>
            <a:rect l="l" t="t" r="r" b="b"/>
            <a:pathLst>
              <a:path w="12550376" h="7940965">
                <a:moveTo>
                  <a:pt x="0" y="0"/>
                </a:moveTo>
                <a:lnTo>
                  <a:pt x="12550376" y="0"/>
                </a:lnTo>
                <a:lnTo>
                  <a:pt x="12550376" y="7940965"/>
                </a:lnTo>
                <a:lnTo>
                  <a:pt x="0" y="7940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56856" y="6018253"/>
            <a:ext cx="3169355" cy="3240047"/>
          </a:xfrm>
          <a:custGeom>
            <a:avLst/>
            <a:gdLst/>
            <a:ahLst/>
            <a:cxnLst/>
            <a:rect l="l" t="t" r="r" b="b"/>
            <a:pathLst>
              <a:path w="3169355" h="3240047">
                <a:moveTo>
                  <a:pt x="0" y="0"/>
                </a:moveTo>
                <a:lnTo>
                  <a:pt x="3169355" y="0"/>
                </a:lnTo>
                <a:lnTo>
                  <a:pt x="3169355" y="3240047"/>
                </a:lnTo>
                <a:lnTo>
                  <a:pt x="0" y="32400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888943">
            <a:off x="13403910" y="1563111"/>
            <a:ext cx="2349870" cy="3288622"/>
          </a:xfrm>
          <a:custGeom>
            <a:avLst/>
            <a:gdLst/>
            <a:ahLst/>
            <a:cxnLst/>
            <a:rect l="l" t="t" r="r" b="b"/>
            <a:pathLst>
              <a:path w="2349870" h="3288622">
                <a:moveTo>
                  <a:pt x="0" y="0"/>
                </a:moveTo>
                <a:lnTo>
                  <a:pt x="2349870" y="0"/>
                </a:lnTo>
                <a:lnTo>
                  <a:pt x="2349870" y="3288622"/>
                </a:lnTo>
                <a:lnTo>
                  <a:pt x="0" y="32886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290763" y="3137252"/>
            <a:ext cx="9706474" cy="461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67"/>
              </a:lnSpc>
            </a:pPr>
            <a:r>
              <a:rPr lang="en-US" sz="17591">
                <a:solidFill>
                  <a:srgbClr val="F791AF"/>
                </a:solidFill>
                <a:latin typeface="Sensei"/>
                <a:ea typeface="Sensei"/>
                <a:cs typeface="Sensei"/>
                <a:sym typeface="Sensei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324</Words>
  <Application>Microsoft Office PowerPoint</Application>
  <PresentationFormat>Custom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Arial</vt:lpstr>
      <vt:lpstr>Sensei</vt:lpstr>
      <vt:lpstr>Microsoft Tai Le</vt:lpstr>
      <vt:lpstr>Mommi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Merah Muda dan Biru Lucu Simpel Tugas Presentasi</dc:title>
  <cp:lastModifiedBy>widya putri</cp:lastModifiedBy>
  <cp:revision>2</cp:revision>
  <dcterms:created xsi:type="dcterms:W3CDTF">2006-08-16T00:00:00Z</dcterms:created>
  <dcterms:modified xsi:type="dcterms:W3CDTF">2025-11-19T07:19:11Z</dcterms:modified>
  <dc:identifier>DAG47FjXukU</dc:identifier>
</cp:coreProperties>
</file>